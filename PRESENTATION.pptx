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5" r:id="rId4"/>
    <p:sldId id="260" r:id="rId5"/>
    <p:sldId id="266" r:id="rId6"/>
    <p:sldId id="267" r:id="rId7"/>
    <p:sldId id="268" r:id="rId8"/>
    <p:sldId id="269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 Zauner" userId="ad307c4ba40c4859" providerId="LiveId" clId="{40D6E049-3B9A-440F-985C-D2BF974985EC}"/>
    <pc:docChg chg="delSld modSld">
      <pc:chgData name="Philipp Zauner" userId="ad307c4ba40c4859" providerId="LiveId" clId="{40D6E049-3B9A-440F-985C-D2BF974985EC}" dt="2026-06-24T13:46:35.186" v="4" actId="20577"/>
      <pc:docMkLst>
        <pc:docMk/>
      </pc:docMkLst>
      <pc:sldChg chg="del">
        <pc:chgData name="Philipp Zauner" userId="ad307c4ba40c4859" providerId="LiveId" clId="{40D6E049-3B9A-440F-985C-D2BF974985EC}" dt="2026-06-24T13:27:03.952" v="0" actId="47"/>
        <pc:sldMkLst>
          <pc:docMk/>
          <pc:sldMk cId="0" sldId="257"/>
        </pc:sldMkLst>
      </pc:sldChg>
      <pc:sldChg chg="del">
        <pc:chgData name="Philipp Zauner" userId="ad307c4ba40c4859" providerId="LiveId" clId="{40D6E049-3B9A-440F-985C-D2BF974985EC}" dt="2026-06-24T13:27:06.509" v="1" actId="47"/>
        <pc:sldMkLst>
          <pc:docMk/>
          <pc:sldMk cId="0" sldId="259"/>
        </pc:sldMkLst>
      </pc:sldChg>
      <pc:sldChg chg="modSp mod">
        <pc:chgData name="Philipp Zauner" userId="ad307c4ba40c4859" providerId="LiveId" clId="{40D6E049-3B9A-440F-985C-D2BF974985EC}" dt="2026-06-24T13:46:35.186" v="4" actId="20577"/>
        <pc:sldMkLst>
          <pc:docMk/>
          <pc:sldMk cId="0" sldId="260"/>
        </pc:sldMkLst>
        <pc:spChg chg="mod">
          <ac:chgData name="Philipp Zauner" userId="ad307c4ba40c4859" providerId="LiveId" clId="{40D6E049-3B9A-440F-985C-D2BF974985EC}" dt="2026-06-24T13:46:35.186" v="4" actId="20577"/>
          <ac:spMkLst>
            <pc:docMk/>
            <pc:sldMk cId="0" sldId="260"/>
            <ac:spMk id="11" creationId="{00000000-0000-0000-0000-000000000000}"/>
          </ac:spMkLst>
        </pc:spChg>
      </pc:sldChg>
      <pc:sldChg chg="del">
        <pc:chgData name="Philipp Zauner" userId="ad307c4ba40c4859" providerId="LiveId" clId="{40D6E049-3B9A-440F-985C-D2BF974985EC}" dt="2026-06-24T13:27:17.412" v="2" actId="47"/>
        <pc:sldMkLst>
          <pc:docMk/>
          <pc:sldMk cId="0" sldId="262"/>
        </pc:sldMkLst>
      </pc:sldChg>
      <pc:sldChg chg="del">
        <pc:chgData name="Philipp Zauner" userId="ad307c4ba40c4859" providerId="LiveId" clId="{40D6E049-3B9A-440F-985C-D2BF974985EC}" dt="2026-06-24T13:27:25.712" v="3" actId="47"/>
        <pc:sldMkLst>
          <pc:docMk/>
          <pc:sldMk cId="0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lang="de-DE" sz="1300" b="0" i="0" u="none" strike="noStrike">
                <a:solidFill>
                  <a:srgbClr val="1E293B"/>
                </a:solidFill>
                <a:latin typeface="Calibri"/>
              </a:rPr>
              <a:t>Login-Stress: Latenz (ms) über Zeit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Latenz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71</c:v>
                </c:pt>
                <c:pt idx="1">
                  <c:v>64</c:v>
                </c:pt>
                <c:pt idx="2">
                  <c:v>50</c:v>
                </c:pt>
                <c:pt idx="3">
                  <c:v>69</c:v>
                </c:pt>
                <c:pt idx="4">
                  <c:v>92</c:v>
                </c:pt>
                <c:pt idx="5">
                  <c:v>181</c:v>
                </c:pt>
                <c:pt idx="6">
                  <c:v>540</c:v>
                </c:pt>
                <c:pt idx="7">
                  <c:v>896</c:v>
                </c:pt>
                <c:pt idx="8">
                  <c:v>1203</c:v>
                </c:pt>
                <c:pt idx="9">
                  <c:v>1213</c:v>
                </c:pt>
                <c:pt idx="10">
                  <c:v>1254</c:v>
                </c:pt>
                <c:pt idx="11">
                  <c:v>1168</c:v>
                </c:pt>
                <c:pt idx="12">
                  <c:v>1153</c:v>
                </c:pt>
                <c:pt idx="13">
                  <c:v>1154</c:v>
                </c:pt>
                <c:pt idx="14">
                  <c:v>1171</c:v>
                </c:pt>
                <c:pt idx="15">
                  <c:v>1166</c:v>
                </c:pt>
                <c:pt idx="16">
                  <c:v>1167</c:v>
                </c:pt>
                <c:pt idx="17">
                  <c:v>1172</c:v>
                </c:pt>
                <c:pt idx="18">
                  <c:v>1165</c:v>
                </c:pt>
                <c:pt idx="19">
                  <c:v>590</c:v>
                </c:pt>
                <c:pt idx="20">
                  <c:v>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30E-445C-BD54-77A2B239A2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 Latenz</c:v>
                </c:pt>
              </c:strCache>
            </c:strRef>
          </c:tx>
          <c:spPr>
            <a:ln w="31750" cap="flat">
              <a:solidFill>
                <a:srgbClr val="C241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71</c:v>
                </c:pt>
                <c:pt idx="1">
                  <c:v>81</c:v>
                </c:pt>
                <c:pt idx="2">
                  <c:v>56</c:v>
                </c:pt>
                <c:pt idx="3">
                  <c:v>88</c:v>
                </c:pt>
                <c:pt idx="4">
                  <c:v>98</c:v>
                </c:pt>
                <c:pt idx="5">
                  <c:v>271</c:v>
                </c:pt>
                <c:pt idx="6">
                  <c:v>651</c:v>
                </c:pt>
                <c:pt idx="7">
                  <c:v>977</c:v>
                </c:pt>
                <c:pt idx="8">
                  <c:v>1233</c:v>
                </c:pt>
                <c:pt idx="9">
                  <c:v>1230</c:v>
                </c:pt>
                <c:pt idx="10">
                  <c:v>1285</c:v>
                </c:pt>
                <c:pt idx="11">
                  <c:v>1210</c:v>
                </c:pt>
                <c:pt idx="12">
                  <c:v>1159</c:v>
                </c:pt>
                <c:pt idx="13">
                  <c:v>1165</c:v>
                </c:pt>
                <c:pt idx="14">
                  <c:v>1180</c:v>
                </c:pt>
                <c:pt idx="15">
                  <c:v>1179</c:v>
                </c:pt>
                <c:pt idx="16">
                  <c:v>1179</c:v>
                </c:pt>
                <c:pt idx="17">
                  <c:v>1187</c:v>
                </c:pt>
                <c:pt idx="18">
                  <c:v>1180</c:v>
                </c:pt>
                <c:pt idx="19">
                  <c:v>769</c:v>
                </c:pt>
                <c:pt idx="20">
                  <c:v>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30E-445C-BD54-77A2B239A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de-AT" sz="1000" b="0" i="0" u="none" strike="noStrike">
                    <a:solidFill>
                      <a:srgbClr val="64748B"/>
                    </a:solidFill>
                    <a:latin typeface="Arial"/>
                  </a:rPr>
                  <a:t>Zeit (s)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184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Wir haben für die geforkte conduit-App (RealWorld/Medium-Klon) ein komplettes Test-Setup über alle Stufen der Testpyramide aufgebaut, inklusive CI und Last-Tests. Schwerpunkt heute: was wurde warum und wie getestet.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conduit ist die RealWorld-Referenz-App. Backend: Node/Express 5 mit Sequelize-ORM auf PostgreSQL, Auth über JWT und bcrypt. Frontend: React 19 mit Vite, spricht das Backend über /api an. Fachlich: Registrierung/Login, Artikel mit Kommentaren, Tags, Favoriten, Autoren 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Pyramide hat die richtige Form: breite Unit-Basis, weniger Integration, wenige E2E, ganz oben Last. Zur Frage warum mehr als das Minimum: wir folgen dem Prinzip ein Test pro eigenständigem Code-Pfad. Bei den 30 Unit-Tests sind das z. B. Salting, die instanceof-Vererbung fürs Fehler-Mapping, jeder Status-Zweig. Bei Integration testen wir pro Endpunkt nicht nur den Erfolg, sondern auch die Fehlerpfade – genau die regressieren am häufigsten.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Szenarien: ein Lasttest auf den meistgenutzten Lese-Endpunkt und ein Stress-/Spike-Test auf den Login. Der Lesepfad bleibt mit p95 238 ms gesund. Beim Login sieht man im Diagramm deutlich: solange wenig Last anliegt, ist die Latenz unter 100 ms; sobald wir auf 100 gleichzeitige Nutzer springen, steigt sie auf rund 1,2 Sekunden. Keine Fehler, aber klare Verlangsamung.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Interpretation: Der Lesepfad ist gesund, die Latenz kommt von Datenbankabfragen. Der Login dagegen ist CPU-gebunden – bcrypt ist mit Absicht rechenintensiv. Sobald die CPU sättigt, stauen sich die Anfragen, die Latenz steigt linear mit der Nebenläufigkeit, der Durchsatz deckelt. Das ist kein Bug, sondern eine Kapazitätsgrenze – lösbar über mehr Instanzen oder Rate-Limiting.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Testing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Vollständiges Test-Setup &amp; Last-Analyse der conduit-App (RealWorld)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 Seybold  ·  Philipp Zauner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Präsentationstermin: 27.06.2026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Anwendung: conduit (RealWorld)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Blogging-Plattform („Medium-Klon") nach der RealWorld-Spezifikation – Fullstack-Monorepo.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2286000"/>
            <a:ext cx="30175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2679192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2679192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2286000"/>
            <a:ext cx="30175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0" name="Shape 8"/>
          <p:cNvSpPr/>
          <p:nvPr/>
        </p:nvSpPr>
        <p:spPr>
          <a:xfrm>
            <a:off x="4809744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809744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92824" y="2286000"/>
            <a:ext cx="30175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6940296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B3D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6940296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8529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/api  ·  JWT-Auth  ·  bcrypt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Registrierung / Login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91840" y="40690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32918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Artikel-CRUD + Kommentare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40690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60350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· Favoriten · Follow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 Architektu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conduit: Architektur &amp;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(npm-Workspaces); klassische Schichtung im Backend, SPA im Frontend.</a:t>
            </a:r>
            <a:endParaRPr lang="en-US" sz="1500" dirty="0"/>
          </a:p>
        </p:txBody>
      </p:sp>
      <p:sp>
        <p:nvSpPr>
          <p:cNvPr id="4" name="Card Left"/>
          <p:cNvSpPr/>
          <p:nvPr/>
        </p:nvSpPr>
        <p:spPr>
          <a:xfrm>
            <a:off x="457200" y="1463040"/>
            <a:ext cx="4023360" cy="33223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Card Left Header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(Express 5)</a:t>
            </a:r>
            <a:endParaRPr lang="en-US" sz="1700" dirty="0"/>
          </a:p>
        </p:txBody>
      </p:sp>
      <p:sp>
        <p:nvSpPr>
          <p:cNvPr id="6" name="Card Left Body"/>
          <p:cNvSpPr/>
          <p:nvPr/>
        </p:nvSpPr>
        <p:spPr>
          <a:xfrm>
            <a:off x="640080" y="205740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controllers/ → models/ – klassische Schichtung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JWT-Authentifizierung &amp; zentrale Fehlerbehandlung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helper/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JWT, slugify, customErrors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6 (ORM) gegen PostgreSQL</a:t>
            </a:r>
            <a:endParaRPr lang="en-US" sz="1300" dirty="0"/>
          </a:p>
        </p:txBody>
      </p:sp>
      <p:sp>
        <p:nvSpPr>
          <p:cNvPr id="7" name="Card Right"/>
          <p:cNvSpPr/>
          <p:nvPr/>
        </p:nvSpPr>
        <p:spPr>
          <a:xfrm>
            <a:off x="4663440" y="1463040"/>
            <a:ext cx="4023360" cy="33223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Card Right Header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 unter /api</a:t>
            </a:r>
            <a:endParaRPr lang="en-US" sz="1700" dirty="0"/>
          </a:p>
        </p:txBody>
      </p:sp>
      <p:sp>
        <p:nvSpPr>
          <p:cNvPr id="9" name="Card Right Body"/>
          <p:cNvSpPr/>
          <p:nvPr/>
        </p:nvSpPr>
        <p:spPr>
          <a:xfrm>
            <a:off x="4846320" y="205740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user · articles · profiles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· comments · favorites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per JWT (Bearer-Token), Passwörter via bcrypt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React-19-SPA spricht /api über Proxy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Testpyramide: 56 Tests gesamt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57400" y="123444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0B3D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057400" y="1234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54480" y="1984248"/>
            <a:ext cx="2468880" cy="658368"/>
          </a:xfrm>
          <a:prstGeom prst="roundRect">
            <a:avLst>
              <a:gd name="adj" fmla="val 69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1554480" y="19842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· 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2734056"/>
            <a:ext cx="3566160" cy="658368"/>
          </a:xfrm>
          <a:prstGeom prst="roundRect">
            <a:avLst>
              <a:gd name="adj" fmla="val 694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005840" y="27340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· 19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83864"/>
            <a:ext cx="4663440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30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12344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so viele?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Umgesetzt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30 / 19 / 5 / 2 = 56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Prinzip: ein Test je eigenständigem Pfad / Edge-Case – kein Padding.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pro Endpunkt Happy Path UND Fehlerkontrakt (401/403/404/422).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nit Tes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Unit-Tests – 30 Tests (Jest)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Sicherheits- &amp; logikkritische Bausteine; Abhängigkeiten gemockt – voll deterministisch.</a:t>
            </a:r>
          </a:p>
        </p:txBody>
      </p:sp>
      <p:sp>
        <p:nvSpPr>
          <p:cNvPr id="4" name="ModCard"/>
          <p:cNvSpPr/>
          <p:nvPr/>
        </p:nvSpPr>
        <p:spPr>
          <a:xfrm>
            <a:off x="457200" y="1495680"/>
            <a:ext cx="4023360" cy="9886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ModText"/>
          <p:cNvSpPr/>
          <p:nvPr/>
        </p:nvSpPr>
        <p:spPr>
          <a:xfrm>
            <a:off x="685800" y="1632840"/>
            <a:ext cx="3566160" cy="71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helper/bcrypt · 4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de-DE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≠ Klartext &amp; bcrypt-Format, korrekte und falsche Verifikation, Salting</a:t>
            </a:r>
          </a:p>
        </p:txBody>
      </p:sp>
      <p:sp>
        <p:nvSpPr>
          <p:cNvPr id="6" name="ModCard"/>
          <p:cNvSpPr/>
          <p:nvPr/>
        </p:nvSpPr>
        <p:spPr>
          <a:xfrm>
            <a:off x="4663440" y="1495680"/>
            <a:ext cx="4023360" cy="9886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ModText"/>
          <p:cNvSpPr/>
          <p:nvPr/>
        </p:nvSpPr>
        <p:spPr>
          <a:xfrm>
            <a:off x="4892040" y="1632840"/>
            <a:ext cx="3566160" cy="71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helper/jwt · 4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de-DE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Token-Struktur, keine sensiblen Felder, Round-Trip, Manipulation wirft</a:t>
            </a:r>
          </a:p>
        </p:txBody>
      </p:sp>
      <p:sp>
        <p:nvSpPr>
          <p:cNvPr id="8" name="ModCard"/>
          <p:cNvSpPr/>
          <p:nvPr/>
        </p:nvSpPr>
        <p:spPr>
          <a:xfrm>
            <a:off x="457200" y="2613660"/>
            <a:ext cx="4023360" cy="9886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ModText"/>
          <p:cNvSpPr/>
          <p:nvPr/>
        </p:nvSpPr>
        <p:spPr>
          <a:xfrm>
            <a:off x="685800" y="2750820"/>
            <a:ext cx="3566160" cy="71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helper/helpers · 4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de-DE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slugify-Edge-Cases: Ziffern, Mehrfach-Sonderzeichen, Unicode-Grenze</a:t>
            </a:r>
          </a:p>
        </p:txBody>
      </p:sp>
      <p:sp>
        <p:nvSpPr>
          <p:cNvPr id="10" name="ModCard"/>
          <p:cNvSpPr/>
          <p:nvPr/>
        </p:nvSpPr>
        <p:spPr>
          <a:xfrm>
            <a:off x="4663440" y="2613660"/>
            <a:ext cx="4023360" cy="9886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ModText"/>
          <p:cNvSpPr/>
          <p:nvPr/>
        </p:nvSpPr>
        <p:spPr>
          <a:xfrm>
            <a:off x="4892040" y="2750820"/>
            <a:ext cx="3566160" cy="71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helper/customErrors · 8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de-DE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Message-Format + 3× instanceof-Vererbung (Basis des Fehler-Mappings)</a:t>
            </a:r>
          </a:p>
        </p:txBody>
      </p:sp>
      <p:sp>
        <p:nvSpPr>
          <p:cNvPr id="12" name="ModCard"/>
          <p:cNvSpPr/>
          <p:nvPr/>
        </p:nvSpPr>
        <p:spPr>
          <a:xfrm>
            <a:off x="457200" y="3731640"/>
            <a:ext cx="4023360" cy="9886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ModText"/>
          <p:cNvSpPr/>
          <p:nvPr/>
        </p:nvSpPr>
        <p:spPr>
          <a:xfrm>
            <a:off x="685800" y="3868800"/>
            <a:ext cx="3566160" cy="71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middleware/errorHandler · 6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de-DE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ein Status-Zweig 401/403/404/422/500 + Response-Schema</a:t>
            </a:r>
          </a:p>
        </p:txBody>
      </p:sp>
      <p:sp>
        <p:nvSpPr>
          <p:cNvPr id="14" name="ModCard"/>
          <p:cNvSpPr/>
          <p:nvPr/>
        </p:nvSpPr>
        <p:spPr>
          <a:xfrm>
            <a:off x="4663440" y="3731640"/>
            <a:ext cx="4023360" cy="9886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ModText"/>
          <p:cNvSpPr/>
          <p:nvPr/>
        </p:nvSpPr>
        <p:spPr>
          <a:xfrm>
            <a:off x="4892040" y="3868800"/>
            <a:ext cx="3566160" cy="71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middleware/authentication · 4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de-DE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Header, malformed Token, gültig + User, gültig + kein User → 404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egration Tes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Integrations-Tests – 19 Tests (Jest + Supertest)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API gegen PostgreSQL; pro Endpunkt Happy Path UND Fehlerkontrakt (401/403/404/422).</a:t>
            </a:r>
          </a:p>
        </p:txBody>
      </p:sp>
      <p:sp>
        <p:nvSpPr>
          <p:cNvPr id="4" name="IntRow"/>
          <p:cNvSpPr/>
          <p:nvPr/>
        </p:nvSpPr>
        <p:spPr>
          <a:xfrm>
            <a:off x="457200" y="1432560"/>
            <a:ext cx="8229600" cy="73152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IntPill"/>
          <p:cNvSpPr/>
          <p:nvPr/>
        </p:nvSpPr>
        <p:spPr>
          <a:xfrm>
            <a:off x="640080" y="1600200"/>
            <a:ext cx="2103120" cy="396240"/>
          </a:xfrm>
          <a:prstGeom prst="roundRect">
            <a:avLst>
              <a:gd name="adj" fmla="val 22000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6" name="IntPillText"/>
          <p:cNvSpPr/>
          <p:nvPr/>
        </p:nvSpPr>
        <p:spPr>
          <a:xfrm>
            <a:off x="640080" y="1600200"/>
            <a:ext cx="2103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auth.test.js  </a:t>
            </a:r>
            <a:r>
              <a:rPr lang="de-DE" sz="1250" b="1" dirty="0">
                <a:solidFill>
                  <a:srgbClr val="C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</a:t>
            </a:r>
          </a:p>
        </p:txBody>
      </p:sp>
      <p:sp>
        <p:nvSpPr>
          <p:cNvPr id="7" name="IntDesc"/>
          <p:cNvSpPr/>
          <p:nvPr/>
        </p:nvSpPr>
        <p:spPr>
          <a:xfrm>
            <a:off x="2926080" y="14325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de-DE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201 + Token (kein Passwort-Leak); Duplikat-E-Mail → 422; Login: falsches Passwort 422, unbekannt 404; Current-User 401/200</a:t>
            </a:r>
          </a:p>
        </p:txBody>
      </p:sp>
      <p:sp>
        <p:nvSpPr>
          <p:cNvPr id="8" name="IntRow"/>
          <p:cNvSpPr/>
          <p:nvPr/>
        </p:nvSpPr>
        <p:spPr>
          <a:xfrm>
            <a:off x="457200" y="2301240"/>
            <a:ext cx="8229600" cy="73152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IntPill"/>
          <p:cNvSpPr/>
          <p:nvPr/>
        </p:nvSpPr>
        <p:spPr>
          <a:xfrm>
            <a:off x="640080" y="2468880"/>
            <a:ext cx="2103120" cy="396240"/>
          </a:xfrm>
          <a:prstGeom prst="roundRect">
            <a:avLst>
              <a:gd name="adj" fmla="val 22000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0" name="IntPillText"/>
          <p:cNvSpPr/>
          <p:nvPr/>
        </p:nvSpPr>
        <p:spPr>
          <a:xfrm>
            <a:off x="640080" y="2468880"/>
            <a:ext cx="2103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articles.test.js  </a:t>
            </a:r>
            <a:r>
              <a:rPr lang="de-DE" sz="1250" b="1" dirty="0">
                <a:solidFill>
                  <a:srgbClr val="C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</a:t>
            </a:r>
          </a:p>
        </p:txBody>
      </p:sp>
      <p:sp>
        <p:nvSpPr>
          <p:cNvPr id="11" name="IntDesc"/>
          <p:cNvSpPr/>
          <p:nvPr/>
        </p:nvSpPr>
        <p:spPr>
          <a:xfrm>
            <a:off x="2926080" y="23012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de-DE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mit Auth-Pflicht (401); Slug-Ableitung; Duplikat-Slug → 422; fehlender Titel → 422; Read per Slug, 404, Liste mit Count</a:t>
            </a:r>
          </a:p>
        </p:txBody>
      </p:sp>
      <p:sp>
        <p:nvSpPr>
          <p:cNvPr id="12" name="IntRow"/>
          <p:cNvSpPr/>
          <p:nvPr/>
        </p:nvSpPr>
        <p:spPr>
          <a:xfrm>
            <a:off x="457200" y="3169920"/>
            <a:ext cx="8229600" cy="73152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IntPill"/>
          <p:cNvSpPr/>
          <p:nvPr/>
        </p:nvSpPr>
        <p:spPr>
          <a:xfrm>
            <a:off x="640080" y="3337560"/>
            <a:ext cx="2103120" cy="396240"/>
          </a:xfrm>
          <a:prstGeom prst="roundRect">
            <a:avLst>
              <a:gd name="adj" fmla="val 22000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4" name="IntPillText"/>
          <p:cNvSpPr/>
          <p:nvPr/>
        </p:nvSpPr>
        <p:spPr>
          <a:xfrm>
            <a:off x="640080" y="3337560"/>
            <a:ext cx="2103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comments-tags.test.js  </a:t>
            </a:r>
            <a:r>
              <a:rPr lang="de-DE" sz="1250" b="1" dirty="0">
                <a:solidFill>
                  <a:srgbClr val="C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</a:t>
            </a:r>
          </a:p>
        </p:txBody>
      </p:sp>
      <p:sp>
        <p:nvSpPr>
          <p:cNvPr id="15" name="IntDesc"/>
          <p:cNvSpPr/>
          <p:nvPr/>
        </p:nvSpPr>
        <p:spPr>
          <a:xfrm>
            <a:off x="2926080" y="31699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de-DE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 anlegen (201) + Auflisten; leerer Body → 422; Tags-Endpunkt; 404-Fallback für unbekannte Routen</a:t>
            </a:r>
          </a:p>
        </p:txBody>
      </p:sp>
      <p:sp>
        <p:nvSpPr>
          <p:cNvPr id="16" name="StripCard"/>
          <p:cNvSpPr/>
          <p:nvPr/>
        </p:nvSpPr>
        <p:spPr>
          <a:xfrm>
            <a:off x="457200" y="4038600"/>
            <a:ext cx="8229600" cy="731520"/>
          </a:xfrm>
          <a:prstGeom prst="roundRect">
            <a:avLst>
              <a:gd name="adj" fmla="val 10256"/>
            </a:avLst>
          </a:prstGeom>
          <a:solidFill>
            <a:srgbClr val="E2F1F2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tripPill"/>
          <p:cNvSpPr/>
          <p:nvPr/>
        </p:nvSpPr>
        <p:spPr>
          <a:xfrm>
            <a:off x="640080" y="4206240"/>
            <a:ext cx="2103120" cy="396240"/>
          </a:xfrm>
          <a:prstGeom prst="roundRect">
            <a:avLst>
              <a:gd name="adj" fmla="val 22000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</a:p>
        </p:txBody>
      </p:sp>
      <p:sp>
        <p:nvSpPr>
          <p:cNvPr id="18" name="StripText"/>
          <p:cNvSpPr/>
          <p:nvPr/>
        </p:nvSpPr>
        <p:spPr>
          <a:xfrm>
            <a:off x="2926080" y="40386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de-DE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Test-DB </a:t>
            </a:r>
            <a:r>
              <a:rPr lang="de-DE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database_testing</a:t>
            </a:r>
            <a:r>
              <a:rPr lang="de-DE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frisches Schema pro Datei, truncate vor jedem Test, serielle Ausführung.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2E Tes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E2E-Tests – 5 Tests (Playwright)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Browser-Flows (Chromium); Backend + Frontend werden automatisch hochgefahren.</a:t>
            </a:r>
          </a:p>
        </p:txBody>
      </p:sp>
      <p:sp>
        <p:nvSpPr>
          <p:cNvPr id="4" name="E2ELeft"/>
          <p:cNvSpPr/>
          <p:nvPr/>
        </p:nvSpPr>
        <p:spPr>
          <a:xfrm>
            <a:off x="457200" y="1463040"/>
            <a:ext cx="4023360" cy="33223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E2ELeftHead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auth.spec.js · 4</a:t>
            </a:r>
          </a:p>
        </p:txBody>
      </p:sp>
      <p:sp>
        <p:nvSpPr>
          <p:cNvPr id="6" name="E2ELeftBody"/>
          <p:cNvSpPr/>
          <p:nvPr/>
        </p:nvSpPr>
        <p:spPr>
          <a:xfrm>
            <a:off x="640080" y="2148840"/>
            <a:ext cx="3657600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Registrierung → eingeloggt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über Formular → eingeloggt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Ungültiger Login → Fehlermeldung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→ ausgeloggte Navigation</a:t>
            </a:r>
          </a:p>
        </p:txBody>
      </p:sp>
      <p:sp>
        <p:nvSpPr>
          <p:cNvPr id="7" name="E2ERight"/>
          <p:cNvSpPr/>
          <p:nvPr/>
        </p:nvSpPr>
        <p:spPr>
          <a:xfrm>
            <a:off x="4663440" y="1463040"/>
            <a:ext cx="4023360" cy="33223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E2ERightHead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article.spec.js · 1</a:t>
            </a:r>
          </a:p>
        </p:txBody>
      </p:sp>
      <p:sp>
        <p:nvSpPr>
          <p:cNvPr id="9" name="E2ERightBody"/>
          <p:cNvSpPr/>
          <p:nvPr/>
        </p:nvSpPr>
        <p:spPr>
          <a:xfrm>
            <a:off x="4846320" y="2148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Eingeloggt einen Artikel verfassen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Veröffentlichen → Detailseite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Detailseite zeigt den Titel</a:t>
            </a:r>
          </a:p>
        </p:txBody>
      </p:sp>
      <p:sp>
        <p:nvSpPr>
          <p:cNvPr id="10" name="E2ERightNote"/>
          <p:cNvSpPr/>
          <p:nvPr/>
        </p:nvSpPr>
        <p:spPr>
          <a:xfrm>
            <a:off x="4846320" y="3703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</a:t>
            </a:r>
            <a:r>
              <a:rPr lang="de-DE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Test erzeugt einen eindeutigen Benutzer (Zeitstempel + Zufall); serielle Ausführung (workers: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ad Tes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Last-Tests – 2 Szenarien (k6)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Szenarien gegen zentrale API-Endpunkte; jeweils mit Thresholds für Latenz &amp; Fehlerrate.</a:t>
            </a:r>
          </a:p>
        </p:txBody>
      </p:sp>
      <p:sp>
        <p:nvSpPr>
          <p:cNvPr id="4" name="LoadLeft"/>
          <p:cNvSpPr/>
          <p:nvPr/>
        </p:nvSpPr>
        <p:spPr>
          <a:xfrm>
            <a:off x="457200" y="1463040"/>
            <a:ext cx="4023360" cy="33223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LoadLeftHead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 / Throughput-Test</a:t>
            </a:r>
          </a:p>
        </p:txBody>
      </p:sp>
      <p:sp>
        <p:nvSpPr>
          <p:cNvPr id="6" name="LoadLeftEp"/>
          <p:cNvSpPr/>
          <p:nvPr/>
        </p:nvSpPr>
        <p:spPr>
          <a:xfrm>
            <a:off x="640080" y="2011680"/>
            <a:ext cx="36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/api/articles</a:t>
            </a:r>
          </a:p>
        </p:txBody>
      </p:sp>
      <p:sp>
        <p:nvSpPr>
          <p:cNvPr id="7" name="LoadLeftBody"/>
          <p:cNvSpPr/>
          <p:nvPr/>
        </p:nvSpPr>
        <p:spPr>
          <a:xfrm>
            <a:off x="640080" y="2423160"/>
            <a:ext cx="365760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 des meistgenutzten Lese-Endpunkts unter steigender Last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Ramp 0→20 VUs (15 s), Plateau 20 VUs (30 s), Ramp-down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p95 &lt; 500 ms, Fehlerrate ≈ 0 %</a:t>
            </a:r>
          </a:p>
        </p:txBody>
      </p:sp>
      <p:sp>
        <p:nvSpPr>
          <p:cNvPr id="8" name="LoadRight"/>
          <p:cNvSpPr/>
          <p:nvPr/>
        </p:nvSpPr>
        <p:spPr>
          <a:xfrm>
            <a:off x="4663440" y="1463040"/>
            <a:ext cx="4023360" cy="33223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LoadRightHead"/>
          <p:cNvSpPr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 / Spike-Test</a:t>
            </a:r>
          </a:p>
        </p:txBody>
      </p:sp>
      <p:sp>
        <p:nvSpPr>
          <p:cNvPr id="10" name="LoadRightEp"/>
          <p:cNvSpPr/>
          <p:nvPr/>
        </p:nvSpPr>
        <p:spPr>
          <a:xfrm>
            <a:off x="4846320" y="2011680"/>
            <a:ext cx="36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/api/users/login</a:t>
            </a:r>
          </a:p>
        </p:txBody>
      </p:sp>
      <p:sp>
        <p:nvSpPr>
          <p:cNvPr id="11" name="LoadRightBody"/>
          <p:cNvSpPr/>
          <p:nvPr/>
        </p:nvSpPr>
        <p:spPr>
          <a:xfrm>
            <a:off x="4846320" y="2423160"/>
            <a:ext cx="365760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CPU-intensiven Login-Pfad (bcrypt) gezielt überlasten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Warmup → 10 VUs, Spike auf 100 VUs, Halten (20 s)</a:t>
            </a:r>
          </a:p>
          <a:p>
            <a:pPr marL="285750" indent="-285750">
              <a:lnSpc>
                <a:spcPct val="112000"/>
              </a:lnSpc>
              <a:spcBef>
                <a:spcPts val="500"/>
              </a:spcBef>
              <a:buSzPct val="90000"/>
              <a:buChar char="•"/>
            </a:pPr>
            <a:r>
              <a:rPr lang="de-DE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Kapazitätsgrenze finden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Last-Tests: zwei Szenarien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14300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VUs: 10 → 100 ab ≈ 10 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806440" y="128016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59436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/api/articles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645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9385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p95 238 ms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Fehler · 20 VUs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806440" y="288036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594360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/api/users/login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/ Spike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35387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1228 ms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Fehler · 100 VUs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Last-Tests: Interpretation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Lesepfad – gesund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p95 238 ms bei 20 VUs, 0 % Fehler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 von DB-Abfragen dominiert (N+1-Muster) – im Lastbereich unkritisch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im getesteten Bereich problemlos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Auth-Pfad – Engpass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70 ms → ≈ 1,2 s unter Spike (≈ 17× langsamer)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Ursache: bcrypt ist absichtlich CPU-intensiv → CPU sättigt, Requests stauen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Durchsatz deckelt bei ≈ 78 req/s – Kapazitätsgrenze, kein Fehler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Abhilfe: horizontale Skalierung, Rate-Limiting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Bildschirmpräsentation (16:9)</PresentationFormat>
  <Paragraphs>119</Paragraphs>
  <Slides>10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Testing – conduit</dc:title>
  <dc:subject>PptxGenJS Presentation</dc:subject>
  <dc:creator>Lorenz Seybold, Philipp Zauner</dc:creator>
  <cp:lastModifiedBy>Philipp Zauner</cp:lastModifiedBy>
  <cp:revision>1</cp:revision>
  <dcterms:created xsi:type="dcterms:W3CDTF">2026-06-23T20:11:16Z</dcterms:created>
  <dcterms:modified xsi:type="dcterms:W3CDTF">2026-06-24T13:46:45Z</dcterms:modified>
</cp:coreProperties>
</file>