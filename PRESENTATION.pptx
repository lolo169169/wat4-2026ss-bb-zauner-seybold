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93B"/>
                </a:solidFill>
                <a:latin typeface="Calibri"/>
              </a:rPr>
              <a:t>Login-Stress: Latenz (ms) über Zeit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Latenz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71</c:v>
                </c:pt>
                <c:pt idx="1">
                  <c:v>64</c:v>
                </c:pt>
                <c:pt idx="2">
                  <c:v>50</c:v>
                </c:pt>
                <c:pt idx="3">
                  <c:v>69</c:v>
                </c:pt>
                <c:pt idx="4">
                  <c:v>92</c:v>
                </c:pt>
                <c:pt idx="5">
                  <c:v>181</c:v>
                </c:pt>
                <c:pt idx="6">
                  <c:v>540</c:v>
                </c:pt>
                <c:pt idx="7">
                  <c:v>896</c:v>
                </c:pt>
                <c:pt idx="8">
                  <c:v>1203</c:v>
                </c:pt>
                <c:pt idx="9">
                  <c:v>1213</c:v>
                </c:pt>
                <c:pt idx="10">
                  <c:v>1254</c:v>
                </c:pt>
                <c:pt idx="11">
                  <c:v>1168</c:v>
                </c:pt>
                <c:pt idx="12">
                  <c:v>1153</c:v>
                </c:pt>
                <c:pt idx="13">
                  <c:v>1154</c:v>
                </c:pt>
                <c:pt idx="14">
                  <c:v>1171</c:v>
                </c:pt>
                <c:pt idx="15">
                  <c:v>1166</c:v>
                </c:pt>
                <c:pt idx="16">
                  <c:v>1167</c:v>
                </c:pt>
                <c:pt idx="17">
                  <c:v>1172</c:v>
                </c:pt>
                <c:pt idx="18">
                  <c:v>1165</c:v>
                </c:pt>
                <c:pt idx="19">
                  <c:v>590</c:v>
                </c:pt>
                <c:pt idx="20">
                  <c:v>76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 Latenz</c:v>
                </c:pt>
              </c:strCache>
            </c:strRef>
          </c:tx>
          <c:spPr>
            <a:solidFill>
              <a:srgbClr val="C2410C"/>
            </a:solidFill>
            <a:ln w="31750" cap="flat">
              <a:solidFill>
                <a:srgbClr val="C241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410C"/>
              </a:solidFill>
              <a:ln w="9525" cap="flat">
                <a:solidFill>
                  <a:srgbClr val="C241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71</c:v>
                </c:pt>
                <c:pt idx="1">
                  <c:v>81</c:v>
                </c:pt>
                <c:pt idx="2">
                  <c:v>56</c:v>
                </c:pt>
                <c:pt idx="3">
                  <c:v>88</c:v>
                </c:pt>
                <c:pt idx="4">
                  <c:v>98</c:v>
                </c:pt>
                <c:pt idx="5">
                  <c:v>271</c:v>
                </c:pt>
                <c:pt idx="6">
                  <c:v>651</c:v>
                </c:pt>
                <c:pt idx="7">
                  <c:v>977</c:v>
                </c:pt>
                <c:pt idx="8">
                  <c:v>1233</c:v>
                </c:pt>
                <c:pt idx="9">
                  <c:v>1230</c:v>
                </c:pt>
                <c:pt idx="10">
                  <c:v>1285</c:v>
                </c:pt>
                <c:pt idx="11">
                  <c:v>1210</c:v>
                </c:pt>
                <c:pt idx="12">
                  <c:v>1159</c:v>
                </c:pt>
                <c:pt idx="13">
                  <c:v>1165</c:v>
                </c:pt>
                <c:pt idx="14">
                  <c:v>1180</c:v>
                </c:pt>
                <c:pt idx="15">
                  <c:v>1179</c:v>
                </c:pt>
                <c:pt idx="16">
                  <c:v>1179</c:v>
                </c:pt>
                <c:pt idx="17">
                  <c:v>1187</c:v>
                </c:pt>
                <c:pt idx="18">
                  <c:v>1180</c:v>
                </c:pt>
                <c:pt idx="19">
                  <c:v>769</c:v>
                </c:pt>
                <c:pt idx="20">
                  <c:v>76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Zeit (s)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Wir haben für die geforkte conduit-App (RealWorld/Medium-Klon) ein komplettes Test-Setup über alle Stufen der Testpyramide aufgebaut, inklusive CI und Last-Tests. Schwerpunkt heute: was wurde warum und wie getestet.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Fahrplan: erst die App, dann unsere Teststrategie und die Pyramide, danach Werkzeuge und Isolation, die CI-Pipeline, die Last-Tests mit Ergebnissen und am Ende ein Fazit.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conduit ist die RealWorld-Referenz-App. Backend: Node/Express 5 mit Sequelize-ORM auf PostgreSQL, Auth über JWT und bcrypt. Frontend: React 19 mit Vite, spricht das Backend über /api an. Fachlich: Registrierung/Login, Artikel mit Kommentaren, Tags, Favoriten, Autoren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Wir haben bewusst eine eigene Suite mit anderen Frameworks aufgebaut, statt die triviale Baseline zu erweitern – so ist der eigene Beitrag klar abgegrenzt. Und wir testen gegen echtes PostgreSQL, weil gerade Constraints wie Unique-E-Mail oder Slug auf SQLite falsch-positiv grün werden könnten. Ergebnis: Backend-Coverage von 1,3 auf knapp 72 Prozent.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Pyramide hat die richtige Form: breite Unit-Basis, weniger Integration, wenige E2E, ganz oben Last. Zur Frage warum mehr als das Minimum: wir folgen dem Prinzip ein Test pro eigenständigem Code-Pfad. Bei den 30 Unit-Tests sind das z. B. Salting, die instanceof-Vererbung fürs Fehler-Mapping, jeder Status-Zweig. Bei Integration testen wir pro Endpunkt nicht nur den Erfolg, sondern auch die Fehlerpfade – genau die regressieren am häufigsten.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Womit getestet wird, sieht man hier – wichtiger ist das Wie der Isolation: Unit-Tests sind komplett gemockt. Integrationstests bekommen vor jedem Test eine leere Datenbank durch Truncate mit Cascade. E2E-Tests erzeugen je einen eindeutigen Benutzer, damit sie unabhängig und wiederholbar sind. Dadurch sind alle Stufen reproduzierbar.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Pipeline startet zuerst PostgreSQL per docker compose – das ist wichtig, weil Container-Services auf Windows-Runnern nicht laufen. Danach laufen alle Teststufen nacheinander. Die Last-Tests sind bewusst ausgelagert und nur manuell auslösbar. Die exakt gleichen npm-Skripte laufen auch lokal, daher voll reproduzierbar.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Szenarien: ein Lasttest auf den meistgenutzten Lese-Endpunkt und ein Stress-/Spike-Test auf den Login. Der Lesepfad bleibt mit p95 238 ms gesund. Beim Login sieht man im Diagramm deutlich: solange wenig Last anliegt, ist die Latenz unter 100 ms; sobald wir auf 100 gleichzeitige Nutzer springen, steigt sie auf rund 1,2 Sekunden. Keine Fehler, aber klare Verlangsamung.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Interpretation: Der Lesepfad ist gesund, die Latenz kommt von Datenbankabfragen. Der Login dagegen ist CPU-gebunden – bcrypt ist mit Absicht rechenintensiv. Sobald die CPU sättigt, stauen sich die Anfragen, die Latenz steigt linear mit der Nebenläufigkeit, der Durchsatz deckelt. Das ist kein Bug, sondern eine Kapazitätsgrenze – lösbar über mehr Instanzen oder Rate-Limiting.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Zusammengefasst: 56 sinnvolle Tests über alle Stufen, Coverage von gut einem Prozent auf knapp 72 Prozent, realistische DB mit sauberer Isolation, eine automatisierte Pipeline und Last-Tests, die einen echten, erklärbaren Engpass aufdecken. Danke – Fragen?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Application Testing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240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Vollständiges Test-Setup &amp; Last-Analyse der conduit-App (RealWorld)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 Seybold  ·  Philipp Zauner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F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Präsentationstermin: 27.06.2026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Anwendung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80136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75564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Teststrategie &amp; Testpyramide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36829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32257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Womit &amp; wie getestet wird (Isolation)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5021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Last-Tests &amp; Ergebnisse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06908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Anwendung: conduit (RealWorld)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Blogging-Plattform („Medium-Klon") nach der RealWorld-Spezifikation – Fullstack-Monorepo.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31720" y="228600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79192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679192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REST-API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2272" y="228600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9744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809744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92824" y="228600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940296" y="18288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B3D4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0296" y="1828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8529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/api  ·  JWT-Auth  ·  bcrypt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Registrierung / Login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91840" y="406908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Artikel-CRUD + Kommentare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35040" y="406908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· Favoriten · Follow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Teststrategie: Ausgangslage &amp; Entscheidung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Fork nur 12 triviale Helfer-Tests (Vitest).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Fachlicher Code praktisch ungetestet.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Entscheidung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Suite mit Jest, Playwright und k6 –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Vitest-Baseline bleibt als Vergleich erhalten.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Echtes PostgreSQL statt SQLite → realistische Szenarien.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77840" y="137160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7784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Code-Coverage (Backend)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78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1,3 %</a:t>
            </a:r>
            <a:pPr algn="ctr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71,7 %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577840" y="2880360"/>
            <a:ext cx="310896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 / Nachher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Helper, Middleware, Models, Routes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 100 % abgedeckt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Testpyramide: 56 Tests gesamt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057400" y="123444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0B3D45"/>
          </a:solidFill>
          <a:ln/>
        </p:spPr>
      </p:sp>
      <p:sp>
        <p:nvSpPr>
          <p:cNvPr id="4" name="Text 2"/>
          <p:cNvSpPr/>
          <p:nvPr/>
        </p:nvSpPr>
        <p:spPr>
          <a:xfrm>
            <a:off x="2057400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· 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554480" y="1984248"/>
            <a:ext cx="2468880" cy="658368"/>
          </a:xfrm>
          <a:prstGeom prst="roundRect">
            <a:avLst>
              <a:gd name="adj" fmla="val 6944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842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05840" y="2734056"/>
            <a:ext cx="3566160" cy="658368"/>
          </a:xfrm>
          <a:prstGeom prst="roundRect">
            <a:avLst>
              <a:gd name="adj" fmla="val 6944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7340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· 19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483864"/>
            <a:ext cx="4663440" cy="658368"/>
          </a:xfrm>
          <a:prstGeom prst="roundRect">
            <a:avLst>
              <a:gd name="adj" fmla="val 6944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8386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30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0" y="1234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so viele?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Mindestziel (2er-Team): 10 / 6 / 4 / 2 = 22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Umgesetzt: 30 / 19 / 5 / 2 = 56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Prinzip: ein Test je eigenständigem Pfad / Edge-Case – kein Padding.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pro Endpunkt Happy Path UND Fehlerkontrakt (401/403/404/422).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Womit &amp; wie – Fokus Test-Isolation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16736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167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48840" y="12344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60520" y="123444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Reine Logik, Abhängigkeiten gemockt – voll deterministisch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15798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48840" y="207568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Supertest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60520" y="207568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API gegen PostgreSQL; Schema-Reset + Truncate pro Test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999232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48840" y="291693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60520" y="291693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Browser-Flows; eigener, eindeutiger Benutzer pro Test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84048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75818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60520" y="375818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Test-DB; Szenarien seeden ihre Daten selbst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CI/CD-Pipeline (GitHub Actions)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jedem Push/PR auf einem self-hosted Runner (Windows + Docker):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B3D4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(docker compose)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956816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53412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153412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3028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49624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3849624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545836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545836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5452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42048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7242048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Last-Tests (k6):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separater, </a:t>
            </a:r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ausgelöster Workflow (ressourcenintensiv).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identisch reproduzierbar  ·  docker compose statt services-Container (Windows-tauglich)  ·  Playwright-Report als Artifact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Last-Tests: zwei Szenarien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143000"/>
          <a:ext cx="52120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 10 → 100 ab ≈ 10 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806440" y="1280160"/>
            <a:ext cx="292608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/api/articles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43600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p95 238 ms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 Fehler · 20 VUs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806440" y="288036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4360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/api/users/login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0" y="32461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/ Spike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0" y="35387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1228 ms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 Fehler · 100 VUs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Last-Tests: Interpretation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Lesepfad – gesund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p95 238 ms bei 20 VUs, 0 % Fehler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Latenz von DB-Abfragen dominiert (N+1-Muster) – im Lastbereich unkritisch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im getesteten Bereich problemlos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Auth-Pfad – Engpass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18288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70 ms → ≈ 1,2 s unter Spike (≈ 17× langsamer)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Ursache: bcrypt ist absichtlich CPU-intensiv → CPU sättigt, Requests stauen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Durchsatz deckelt bei ≈ 78 req/s – Kapazitätsgrenze, kein Fehler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Abhilfe: horizontale Skalierung, Rate-Limiting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99616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38988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sinnvolle Tests über alle vier Pyramidenstufen (Ziel: 22)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9339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Backend-Coverage von 1,3 % auf 71,7 % gehoben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706624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9689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PostgreSQL-Test-DB + saubere Isolation pro Stufe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310128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200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Automatisierte CI-Pipeline, lokal reproduzierbar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91363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80390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Last-Tests decken realen Engpass auf (CPU-gebundener Login)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 Seybold · Philipp Zauner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Testing – conduit</dc:title>
  <dc:subject>PptxGenJS Presentation</dc:subject>
  <dc:creator>Lorenz Seybold, Philipp Zauner</dc:creator>
  <cp:lastModifiedBy>Lorenz Seybold, Philipp Zauner</cp:lastModifiedBy>
  <cp:revision>1</cp:revision>
  <dcterms:created xsi:type="dcterms:W3CDTF">2026-06-23T20:11:16Z</dcterms:created>
  <dcterms:modified xsi:type="dcterms:W3CDTF">2026-06-23T20:11:16Z</dcterms:modified>
</cp:coreProperties>
</file>