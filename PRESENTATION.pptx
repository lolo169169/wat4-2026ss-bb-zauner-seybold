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8" r:id="rId3"/>
    <p:sldId id="265" r:id="rId4"/>
    <p:sldId id="260" r:id="rId5"/>
    <p:sldId id="266" r:id="rId6"/>
    <p:sldId id="267" r:id="rId7"/>
    <p:sldId id="268" r:id="rId8"/>
    <p:sldId id="269" r:id="rId9"/>
    <p:sldId id="264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43EA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60" d="100"/>
          <a:sy n="160" d="100"/>
        </p:scale>
        <p:origin x="514" y="1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hilipp Zauner" userId="ad307c4ba40c4859" providerId="LiveId" clId="{40D6E049-3B9A-440F-985C-D2BF974985EC}"/>
    <pc:docChg chg="custSel delSld modSld">
      <pc:chgData name="Philipp Zauner" userId="ad307c4ba40c4859" providerId="LiveId" clId="{40D6E049-3B9A-440F-985C-D2BF974985EC}" dt="2026-06-25T12:29:01.565" v="144" actId="207"/>
      <pc:docMkLst>
        <pc:docMk/>
      </pc:docMkLst>
      <pc:sldChg chg="del">
        <pc:chgData name="Philipp Zauner" userId="ad307c4ba40c4859" providerId="LiveId" clId="{40D6E049-3B9A-440F-985C-D2BF974985EC}" dt="2026-06-24T13:27:03.952" v="0" actId="47"/>
        <pc:sldMkLst>
          <pc:docMk/>
          <pc:sldMk cId="0" sldId="257"/>
        </pc:sldMkLst>
      </pc:sldChg>
      <pc:sldChg chg="delSp modSp mod">
        <pc:chgData name="Philipp Zauner" userId="ad307c4ba40c4859" providerId="LiveId" clId="{40D6E049-3B9A-440F-985C-D2BF974985EC}" dt="2026-06-25T12:29:01.565" v="144" actId="207"/>
        <pc:sldMkLst>
          <pc:docMk/>
          <pc:sldMk cId="0" sldId="258"/>
        </pc:sldMkLst>
        <pc:spChg chg="del mod">
          <ac:chgData name="Philipp Zauner" userId="ad307c4ba40c4859" providerId="LiveId" clId="{40D6E049-3B9A-440F-985C-D2BF974985EC}" dt="2026-06-25T12:27:20.286" v="139" actId="478"/>
          <ac:spMkLst>
            <pc:docMk/>
            <pc:sldMk cId="0" sldId="258"/>
            <ac:spMk id="15" creationId="{00000000-0000-0000-0000-000000000000}"/>
          </ac:spMkLst>
        </pc:spChg>
        <pc:spChg chg="mod">
          <ac:chgData name="Philipp Zauner" userId="ad307c4ba40c4859" providerId="LiveId" clId="{40D6E049-3B9A-440F-985C-D2BF974985EC}" dt="2026-06-25T12:29:01.565" v="144" actId="207"/>
          <ac:spMkLst>
            <pc:docMk/>
            <pc:sldMk cId="0" sldId="258"/>
            <ac:spMk id="16" creationId="{00000000-0000-0000-0000-000000000000}"/>
          </ac:spMkLst>
        </pc:spChg>
      </pc:sldChg>
      <pc:sldChg chg="del">
        <pc:chgData name="Philipp Zauner" userId="ad307c4ba40c4859" providerId="LiveId" clId="{40D6E049-3B9A-440F-985C-D2BF974985EC}" dt="2026-06-24T13:27:06.509" v="1" actId="47"/>
        <pc:sldMkLst>
          <pc:docMk/>
          <pc:sldMk cId="0" sldId="259"/>
        </pc:sldMkLst>
      </pc:sldChg>
      <pc:sldChg chg="modSp mod">
        <pc:chgData name="Philipp Zauner" userId="ad307c4ba40c4859" providerId="LiveId" clId="{40D6E049-3B9A-440F-985C-D2BF974985EC}" dt="2026-06-25T12:13:13.798" v="6" actId="20577"/>
        <pc:sldMkLst>
          <pc:docMk/>
          <pc:sldMk cId="0" sldId="260"/>
        </pc:sldMkLst>
        <pc:spChg chg="mod">
          <ac:chgData name="Philipp Zauner" userId="ad307c4ba40c4859" providerId="LiveId" clId="{40D6E049-3B9A-440F-985C-D2BF974985EC}" dt="2026-06-25T12:13:13.798" v="6" actId="20577"/>
          <ac:spMkLst>
            <pc:docMk/>
            <pc:sldMk cId="0" sldId="260"/>
            <ac:spMk id="11" creationId="{00000000-0000-0000-0000-000000000000}"/>
          </ac:spMkLst>
        </pc:spChg>
      </pc:sldChg>
      <pc:sldChg chg="del">
        <pc:chgData name="Philipp Zauner" userId="ad307c4ba40c4859" providerId="LiveId" clId="{40D6E049-3B9A-440F-985C-D2BF974985EC}" dt="2026-06-24T13:27:17.412" v="2" actId="47"/>
        <pc:sldMkLst>
          <pc:docMk/>
          <pc:sldMk cId="0" sldId="262"/>
        </pc:sldMkLst>
      </pc:sldChg>
      <pc:sldChg chg="del">
        <pc:chgData name="Philipp Zauner" userId="ad307c4ba40c4859" providerId="LiveId" clId="{40D6E049-3B9A-440F-985C-D2BF974985EC}" dt="2026-06-25T12:18:34.886" v="7" actId="47"/>
        <pc:sldMkLst>
          <pc:docMk/>
          <pc:sldMk cId="0" sldId="263"/>
        </pc:sldMkLst>
      </pc:sldChg>
      <pc:sldChg chg="del">
        <pc:chgData name="Philipp Zauner" userId="ad307c4ba40c4859" providerId="LiveId" clId="{40D6E049-3B9A-440F-985C-D2BF974985EC}" dt="2026-06-24T13:27:25.712" v="3" actId="47"/>
        <pc:sldMkLst>
          <pc:docMk/>
          <pc:sldMk cId="0" sldId="265"/>
        </pc:sldMkLst>
      </pc:sldChg>
      <pc:sldChg chg="modSp mod">
        <pc:chgData name="Philipp Zauner" userId="ad307c4ba40c4859" providerId="LiveId" clId="{40D6E049-3B9A-440F-985C-D2BF974985EC}" dt="2026-06-25T12:26:35.113" v="136" actId="20577"/>
        <pc:sldMkLst>
          <pc:docMk/>
          <pc:sldMk cId="0" sldId="266"/>
        </pc:sldMkLst>
        <pc:spChg chg="mod">
          <ac:chgData name="Philipp Zauner" userId="ad307c4ba40c4859" providerId="LiveId" clId="{40D6E049-3B9A-440F-985C-D2BF974985EC}" dt="2026-06-25T12:26:35.113" v="136" actId="20577"/>
          <ac:spMkLst>
            <pc:docMk/>
            <pc:sldMk cId="0" sldId="266"/>
            <ac:spMk id="3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161843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Begrüßung. Wir haben für die geforkte conduit-App (RealWorld/Medium-Klon) ein komplettes Test-Setup über alle Stufen der Testpyramide aufgebaut, inklusive CI und Last-Tests. Schwerpunkt heute: was wurde warum und wie getestet.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conduit ist die RealWorld-Referenz-App. Backend: Node/Express 5 mit Sequelize-ORM auf PostgreSQL, Auth über JWT und bcrypt. Frontend: React 19 mit Vite, spricht das Backend über /api an. Fachlich: Registrierung/Login, Artikel mit Kommentaren, Tags, Favoriten, Autoren folgen.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Pyramide hat die richtige Form: breite Unit-Basis, weniger Integration, wenige E2E, ganz oben Last. Wir haben den Fokus bewusst auf den Authentifizierungs-/Login-Bereich gelegt und ihn über alle vier Stufen abgedeckt – insgesamt 26 Tests, über dem Minimum von 22. Prinzip: ein Test pro eigenständigem Code-Pfad. Bei den 12 Unit-Tests sind das z. B. Salting, dass Tokens kein Passwort enthalten, oder die Absicherung geschützter Routen in der Auth-Middleware. Bei Integration testen wir je Auth-Endpunkt nicht nur den Erfolg, sondern auch die Fehlerpfade – genau die regressieren am häufigsten.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Interpretation: Unter Normallast ist der Login unkritisch und bleibt klar unter dem Schwellwert. Unter Überlast dagegen ist er CPU-gebunden – bcrypt ist mit Absicht rechenintensiv. Sobald die CPU sättigt, stauen sich die Anfragen, die Latenz steigt mit der Nebenläufigkeit, der Durchsatz deckelt. Derselbe Endpunkt wird so rund 6× langsamer (188 ms auf 1171 ms). Das ist kein Bug, sondern eine Kapazitätsgrenze – lösbar über mehr Instanzen, Rate-Limiting oder eine Abwägung des bcrypt-Cost-Faktors.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D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3716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 Application Testing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22402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Vollständiges Test-Setup &amp; Last-Analyse der conduit-App (RealWorld)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324612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Lorenz Seybold  ·  Philipp Zauner</a:t>
            </a:r>
            <a:endParaRPr lang="en-US" sz="16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FC9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Präsentationstermin: 27.06.2026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Anwendung: conduit (RealWorld)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Blogging-Plattform („Medium-Klon") nach der RealWorld-Spezifikation – Fullstack-Monorepo.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737360" cy="914400"/>
          </a:xfrm>
          <a:prstGeom prst="roundRect">
            <a:avLst>
              <a:gd name="adj" fmla="val 8000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(Vite)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331720" y="2286000"/>
            <a:ext cx="301752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  <a:tailEnd type="triangle"/>
          </a:ln>
        </p:spPr>
        <p:txBody>
          <a:bodyPr/>
          <a:lstStyle/>
          <a:p>
            <a:endParaRPr lang="de-AT"/>
          </a:p>
        </p:txBody>
      </p:sp>
      <p:sp>
        <p:nvSpPr>
          <p:cNvPr id="7" name="Shape 5"/>
          <p:cNvSpPr/>
          <p:nvPr/>
        </p:nvSpPr>
        <p:spPr>
          <a:xfrm>
            <a:off x="2679192" y="1828800"/>
            <a:ext cx="1737360" cy="914400"/>
          </a:xfrm>
          <a:prstGeom prst="roundRect">
            <a:avLst>
              <a:gd name="adj" fmla="val 8000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8" name="Text 6"/>
          <p:cNvSpPr/>
          <p:nvPr/>
        </p:nvSpPr>
        <p:spPr>
          <a:xfrm>
            <a:off x="2679192" y="182880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 5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REST-API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462272" y="2286000"/>
            <a:ext cx="301752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  <a:tailEnd type="triangle"/>
          </a:ln>
        </p:spPr>
        <p:txBody>
          <a:bodyPr/>
          <a:lstStyle/>
          <a:p>
            <a:endParaRPr lang="de-AT"/>
          </a:p>
        </p:txBody>
      </p:sp>
      <p:sp>
        <p:nvSpPr>
          <p:cNvPr id="10" name="Shape 8"/>
          <p:cNvSpPr/>
          <p:nvPr/>
        </p:nvSpPr>
        <p:spPr>
          <a:xfrm>
            <a:off x="4809744" y="1828800"/>
            <a:ext cx="1737360" cy="914400"/>
          </a:xfrm>
          <a:prstGeom prst="roundRect">
            <a:avLst>
              <a:gd name="adj" fmla="val 8000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1" name="Text 9"/>
          <p:cNvSpPr/>
          <p:nvPr/>
        </p:nvSpPr>
        <p:spPr>
          <a:xfrm>
            <a:off x="4809744" y="182880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Sequelize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ORM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592824" y="2286000"/>
            <a:ext cx="301752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  <a:tailEnd type="triangle"/>
          </a:ln>
        </p:spPr>
        <p:txBody>
          <a:bodyPr/>
          <a:lstStyle/>
          <a:p>
            <a:endParaRPr lang="de-AT"/>
          </a:p>
        </p:txBody>
      </p:sp>
      <p:sp>
        <p:nvSpPr>
          <p:cNvPr id="13" name="Shape 11"/>
          <p:cNvSpPr/>
          <p:nvPr/>
        </p:nvSpPr>
        <p:spPr>
          <a:xfrm>
            <a:off x="6940296" y="1828800"/>
            <a:ext cx="1737360" cy="914400"/>
          </a:xfrm>
          <a:prstGeom prst="roundRect">
            <a:avLst>
              <a:gd name="adj" fmla="val 8000"/>
            </a:avLst>
          </a:prstGeom>
          <a:solidFill>
            <a:srgbClr val="0B3D45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4" name="Text 12"/>
          <p:cNvSpPr/>
          <p:nvPr/>
        </p:nvSpPr>
        <p:spPr>
          <a:xfrm>
            <a:off x="6940296" y="182880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069080"/>
            <a:ext cx="2560320" cy="548640"/>
          </a:xfrm>
          <a:prstGeom prst="roundRect">
            <a:avLst>
              <a:gd name="adj" fmla="val 13333"/>
            </a:avLst>
          </a:prstGeom>
          <a:solidFill>
            <a:schemeClr val="accent6">
              <a:lumMod val="60000"/>
              <a:lumOff val="40000"/>
            </a:schemeClr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7" name="Text 15"/>
          <p:cNvSpPr/>
          <p:nvPr/>
        </p:nvSpPr>
        <p:spPr>
          <a:xfrm>
            <a:off x="548640" y="406908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Auth: Registrierung / Login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3291840" y="4069080"/>
            <a:ext cx="2560320" cy="548640"/>
          </a:xfrm>
          <a:prstGeom prst="roundRect">
            <a:avLst>
              <a:gd name="adj" fmla="val 13333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9" name="Text 17"/>
          <p:cNvSpPr/>
          <p:nvPr/>
        </p:nvSpPr>
        <p:spPr>
          <a:xfrm>
            <a:off x="3291840" y="406908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Artikel-CRUD + Kommentare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035040" y="4069080"/>
            <a:ext cx="2560320" cy="548640"/>
          </a:xfrm>
          <a:prstGeom prst="roundRect">
            <a:avLst>
              <a:gd name="adj" fmla="val 13333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1" name="Text 19"/>
          <p:cNvSpPr/>
          <p:nvPr/>
        </p:nvSpPr>
        <p:spPr>
          <a:xfrm>
            <a:off x="6035040" y="406908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Tags · Favoriten · Follow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App Architektu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conduit: Architektur &amp; API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Monorepo (npm-Workspaces); klassische Schichtung im Backend, SPA im Frontend.</a:t>
            </a:r>
            <a:endParaRPr lang="en-US" sz="1500" dirty="0"/>
          </a:p>
        </p:txBody>
      </p:sp>
      <p:sp>
        <p:nvSpPr>
          <p:cNvPr id="4" name="Card Left"/>
          <p:cNvSpPr/>
          <p:nvPr/>
        </p:nvSpPr>
        <p:spPr>
          <a:xfrm>
            <a:off x="457200" y="1463040"/>
            <a:ext cx="4023360" cy="3322320"/>
          </a:xfrm>
          <a:prstGeom prst="roundRect">
            <a:avLst>
              <a:gd name="adj" fmla="val 2424"/>
            </a:avLst>
          </a:prstGeom>
          <a:solidFill>
            <a:srgbClr val="F1F5F9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94A3B8">
                <a:alpha val="25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5" name="Card Left Header"/>
          <p:cNvSpPr/>
          <p:nvPr/>
        </p:nvSpPr>
        <p:spPr>
          <a:xfrm>
            <a:off x="640080" y="16459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(Express 5)</a:t>
            </a:r>
            <a:endParaRPr lang="en-US" sz="1700" dirty="0"/>
          </a:p>
        </p:txBody>
      </p:sp>
      <p:sp>
        <p:nvSpPr>
          <p:cNvPr id="6" name="Card Left Body"/>
          <p:cNvSpPr/>
          <p:nvPr/>
        </p:nvSpPr>
        <p:spPr>
          <a:xfrm>
            <a:off x="640080" y="2057400"/>
            <a:ext cx="365760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8000"/>
              </a:lnSpc>
              <a:spcBef>
                <a:spcPts val="600"/>
              </a:spcBef>
              <a:buSzPct val="100000"/>
              <a:buChar char="•"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routes/ </a:t>
            </a: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controllers/ → models/ – klassische Schichtung</a:t>
            </a:r>
            <a:endParaRPr lang="en-US" sz="1300" dirty="0"/>
          </a:p>
          <a:p>
            <a:pPr marL="342900" indent="-342900">
              <a:lnSpc>
                <a:spcPct val="118000"/>
              </a:lnSpc>
              <a:spcBef>
                <a:spcPts val="600"/>
              </a:spcBef>
              <a:buSzPct val="100000"/>
              <a:buChar char="•"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middleware/ </a:t>
            </a: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JWT-Authentifizierung &amp; zentrale Fehlerbehandlung</a:t>
            </a:r>
            <a:endParaRPr lang="en-US" sz="1300" dirty="0"/>
          </a:p>
          <a:p>
            <a:pPr marL="342900" indent="-342900">
              <a:lnSpc>
                <a:spcPct val="118000"/>
              </a:lnSpc>
              <a:spcBef>
                <a:spcPts val="600"/>
              </a:spcBef>
              <a:buSzPct val="100000"/>
              <a:buChar char="•"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helper/ </a:t>
            </a: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bcrypt, JWT, slugify, customErrors</a:t>
            </a:r>
            <a:endParaRPr lang="en-US" sz="1300" dirty="0"/>
          </a:p>
          <a:p>
            <a:pPr marL="342900" indent="-342900">
              <a:lnSpc>
                <a:spcPct val="118000"/>
              </a:lnSpc>
              <a:spcBef>
                <a:spcPts val="600"/>
              </a:spcBef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Sequelize 6 (ORM) gegen PostgreSQL</a:t>
            </a:r>
            <a:endParaRPr lang="en-US" sz="1300" dirty="0"/>
          </a:p>
        </p:txBody>
      </p:sp>
      <p:sp>
        <p:nvSpPr>
          <p:cNvPr id="7" name="Card Right"/>
          <p:cNvSpPr/>
          <p:nvPr/>
        </p:nvSpPr>
        <p:spPr>
          <a:xfrm>
            <a:off x="4663440" y="1463040"/>
            <a:ext cx="4023360" cy="3322320"/>
          </a:xfrm>
          <a:prstGeom prst="roundRect">
            <a:avLst>
              <a:gd name="adj" fmla="val 2424"/>
            </a:avLst>
          </a:prstGeom>
          <a:solidFill>
            <a:srgbClr val="F1F5F9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94A3B8">
                <a:alpha val="25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8" name="Card Right Header"/>
          <p:cNvSpPr/>
          <p:nvPr/>
        </p:nvSpPr>
        <p:spPr>
          <a:xfrm>
            <a:off x="4846320" y="16459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REST-API unter /api</a:t>
            </a:r>
            <a:endParaRPr lang="en-US" sz="1700" dirty="0"/>
          </a:p>
        </p:txBody>
      </p:sp>
      <p:sp>
        <p:nvSpPr>
          <p:cNvPr id="9" name="Card Right Body"/>
          <p:cNvSpPr/>
          <p:nvPr/>
        </p:nvSpPr>
        <p:spPr>
          <a:xfrm>
            <a:off x="4846320" y="2057400"/>
            <a:ext cx="365760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8000"/>
              </a:lnSpc>
              <a:spcBef>
                <a:spcPts val="600"/>
              </a:spcBef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· user · articles · profiles</a:t>
            </a:r>
            <a:endParaRPr lang="en-US" sz="1300" dirty="0"/>
          </a:p>
          <a:p>
            <a:pPr marL="342900" indent="-342900">
              <a:lnSpc>
                <a:spcPct val="118000"/>
              </a:lnSpc>
              <a:spcBef>
                <a:spcPts val="600"/>
              </a:spcBef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tags · comments · favorites</a:t>
            </a:r>
            <a:endParaRPr lang="en-US" sz="1300" dirty="0"/>
          </a:p>
          <a:p>
            <a:pPr marL="342900" indent="-342900">
              <a:lnSpc>
                <a:spcPct val="118000"/>
              </a:lnSpc>
              <a:spcBef>
                <a:spcPts val="600"/>
              </a:spcBef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per JWT (Bearer-Token), Passwörter via bcrypt</a:t>
            </a:r>
            <a:endParaRPr lang="en-US" sz="1300" dirty="0"/>
          </a:p>
          <a:p>
            <a:pPr marL="342900" indent="-342900">
              <a:lnSpc>
                <a:spcPct val="118000"/>
              </a:lnSpc>
              <a:spcBef>
                <a:spcPts val="600"/>
              </a:spcBef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Frontend: React-19-SPA spricht /api über Proxy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Testpyramide: 26 Tests gesamt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2057400" y="1234440"/>
            <a:ext cx="1463040" cy="658368"/>
          </a:xfrm>
          <a:prstGeom prst="roundRect">
            <a:avLst>
              <a:gd name="adj" fmla="val 6944"/>
            </a:avLst>
          </a:prstGeom>
          <a:solidFill>
            <a:srgbClr val="0B3D45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4" name="Text 2"/>
          <p:cNvSpPr/>
          <p:nvPr/>
        </p:nvSpPr>
        <p:spPr>
          <a:xfrm>
            <a:off x="2057400" y="123444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· 2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554480" y="1984248"/>
            <a:ext cx="2468880" cy="658368"/>
          </a:xfrm>
          <a:prstGeom prst="roundRect">
            <a:avLst>
              <a:gd name="adj" fmla="val 6944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6" name="Text 4"/>
          <p:cNvSpPr/>
          <p:nvPr/>
        </p:nvSpPr>
        <p:spPr>
          <a:xfrm>
            <a:off x="1554480" y="1984248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 · 4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005840" y="2734056"/>
            <a:ext cx="3566160" cy="658368"/>
          </a:xfrm>
          <a:prstGeom prst="roundRect">
            <a:avLst>
              <a:gd name="adj" fmla="val 6944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8" name="Text 6"/>
          <p:cNvSpPr/>
          <p:nvPr/>
        </p:nvSpPr>
        <p:spPr>
          <a:xfrm>
            <a:off x="1005840" y="2734056"/>
            <a:ext cx="3566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· 8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3483864"/>
            <a:ext cx="4663440" cy="658368"/>
          </a:xfrm>
          <a:prstGeom prst="roundRect">
            <a:avLst>
              <a:gd name="adj" fmla="val 6944"/>
            </a:avLst>
          </a:prstGeom>
          <a:solidFill>
            <a:srgbClr val="02C39A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0" name="Text 8"/>
          <p:cNvSpPr/>
          <p:nvPr/>
        </p:nvSpPr>
        <p:spPr>
          <a:xfrm>
            <a:off x="457200" y="3483864"/>
            <a:ext cx="4663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· 12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669280" y="1234440"/>
            <a:ext cx="31089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b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Umgesetzt</a:t>
            </a: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12 / 8 / 4 / 2 = 26</a:t>
            </a:r>
            <a:endParaRPr lang="en-US" sz="16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Fokus: Authentifizierung / Login – über alle 4 Stufen. Ein Test je eigenständigem Pfad / Edge-Case – kein Padding.</a:t>
            </a:r>
            <a:endParaRPr lang="en-US" sz="16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Integration: pro Auth-Endpunkt Happy Path UND Fehlerkontrakt (401/404/422).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Unit Test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29260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Unit-Tests – 12 Tests (Jest)</a:t>
            </a:r>
          </a:p>
        </p:txBody>
      </p:sp>
      <p:sp>
        <p:nvSpPr>
          <p:cNvPr id="3" name="Subtitle"/>
          <p:cNvSpPr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5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Sicherheitskritische Auth-Bausteine; Abhängigkeiten gemockt – voll deterministisch.</a:t>
            </a:r>
          </a:p>
        </p:txBody>
      </p:sp>
      <p:sp>
        <p:nvSpPr>
          <p:cNvPr id="4" name="ModCard"/>
          <p:cNvSpPr/>
          <p:nvPr/>
        </p:nvSpPr>
        <p:spPr>
          <a:xfrm>
            <a:off x="457200" y="1850000"/>
            <a:ext cx="4023360" cy="988680"/>
          </a:xfrm>
          <a:prstGeom prst="roundRect">
            <a:avLst>
              <a:gd name="adj" fmla="val 2424"/>
            </a:avLst>
          </a:prstGeom>
          <a:solidFill>
            <a:srgbClr val="F1F5F9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94A3B8">
                <a:alpha val="25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5" name="ModText"/>
          <p:cNvSpPr/>
          <p:nvPr/>
        </p:nvSpPr>
        <p:spPr>
          <a:xfrm>
            <a:off x="685800" y="1987160"/>
            <a:ext cx="3566160" cy="71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5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helper/bcrypt · 4</a:t>
            </a:r>
          </a:p>
          <a:p>
            <a:pPr marL="0" indent="0">
              <a:lnSpc>
                <a:spcPct val="108000"/>
              </a:lnSpc>
              <a:spcBef>
                <a:spcPts val="400"/>
              </a:spcBef>
              <a:buNone/>
            </a:pPr>
            <a:r>
              <a:rPr lang="de-DE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 ≠ Klartext &amp; bcrypt-Format, korrekte und falsche Verifikation, Salting</a:t>
            </a:r>
          </a:p>
        </p:txBody>
      </p:sp>
      <p:sp>
        <p:nvSpPr>
          <p:cNvPr id="6" name="ModCard"/>
          <p:cNvSpPr/>
          <p:nvPr/>
        </p:nvSpPr>
        <p:spPr>
          <a:xfrm>
            <a:off x="4663440" y="1850000"/>
            <a:ext cx="4023360" cy="988680"/>
          </a:xfrm>
          <a:prstGeom prst="roundRect">
            <a:avLst>
              <a:gd name="adj" fmla="val 2424"/>
            </a:avLst>
          </a:prstGeom>
          <a:solidFill>
            <a:srgbClr val="F1F5F9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94A3B8">
                <a:alpha val="25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7" name="ModText"/>
          <p:cNvSpPr/>
          <p:nvPr/>
        </p:nvSpPr>
        <p:spPr>
          <a:xfrm>
            <a:off x="4892040" y="1987160"/>
            <a:ext cx="3566160" cy="71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5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helper/jwt · 4</a:t>
            </a:r>
          </a:p>
          <a:p>
            <a:pPr marL="0" indent="0">
              <a:lnSpc>
                <a:spcPct val="108000"/>
              </a:lnSpc>
              <a:spcBef>
                <a:spcPts val="400"/>
              </a:spcBef>
              <a:buNone/>
            </a:pPr>
            <a:r>
              <a:rPr lang="de-DE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Token-Struktur, keine sensiblen Felder, Round-Trip, Manipulation wirft</a:t>
            </a:r>
          </a:p>
        </p:txBody>
      </p:sp>
      <p:sp>
        <p:nvSpPr>
          <p:cNvPr id="8" name="ModCard"/>
          <p:cNvSpPr/>
          <p:nvPr/>
        </p:nvSpPr>
        <p:spPr>
          <a:xfrm>
            <a:off x="457200" y="3100000"/>
            <a:ext cx="8229600" cy="988680"/>
          </a:xfrm>
          <a:prstGeom prst="roundRect">
            <a:avLst>
              <a:gd name="adj" fmla="val 2424"/>
            </a:avLst>
          </a:prstGeom>
          <a:solidFill>
            <a:srgbClr val="F1F5F9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94A3B8">
                <a:alpha val="25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9" name="ModText"/>
          <p:cNvSpPr/>
          <p:nvPr/>
        </p:nvSpPr>
        <p:spPr>
          <a:xfrm>
            <a:off x="685800" y="3237160"/>
            <a:ext cx="7772400" cy="71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5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middleware/authentication · 4</a:t>
            </a:r>
          </a:p>
          <a:p>
            <a:pPr marL="0" indent="0">
              <a:lnSpc>
                <a:spcPct val="108000"/>
              </a:lnSpc>
              <a:spcBef>
                <a:spcPts val="400"/>
              </a:spcBef>
              <a:buNone/>
            </a:pPr>
            <a:r>
              <a:rPr lang="de-DE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Header → Durchlauf; malformed Token → SyntaxError; gültig + User; gültig + kein User → NotFoundError. Absicherung geschützter Routen.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Integration Test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29260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Integrations-Tests – 8 Tests (Jest + Supertest)</a:t>
            </a:r>
          </a:p>
        </p:txBody>
      </p:sp>
      <p:sp>
        <p:nvSpPr>
          <p:cNvPr id="3" name="Subtitle"/>
          <p:cNvSpPr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5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auth.test.js gegen echtes PostgreSQL; je Happy Path UND Fehlerkontrakt (401/404/422).</a:t>
            </a:r>
          </a:p>
        </p:txBody>
      </p:sp>
      <p:sp>
        <p:nvSpPr>
          <p:cNvPr id="4" name="IntRow"/>
          <p:cNvSpPr/>
          <p:nvPr/>
        </p:nvSpPr>
        <p:spPr>
          <a:xfrm>
            <a:off x="457200" y="1432560"/>
            <a:ext cx="8229600" cy="731520"/>
          </a:xfrm>
          <a:prstGeom prst="roundRect">
            <a:avLst>
              <a:gd name="adj" fmla="val 10256"/>
            </a:avLst>
          </a:prstGeom>
          <a:solidFill>
            <a:srgbClr val="F1F5F9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94A3B8">
                <a:alpha val="25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5" name="IntPill"/>
          <p:cNvSpPr/>
          <p:nvPr/>
        </p:nvSpPr>
        <p:spPr>
          <a:xfrm>
            <a:off x="640080" y="1600200"/>
            <a:ext cx="2103120" cy="396240"/>
          </a:xfrm>
          <a:prstGeom prst="roundRect">
            <a:avLst>
              <a:gd name="adj" fmla="val 22000"/>
            </a:avLst>
          </a:prstGeom>
          <a:solidFill>
            <a:srgbClr val="02809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/>
          </a:p>
        </p:txBody>
      </p:sp>
      <p:sp>
        <p:nvSpPr>
          <p:cNvPr id="6" name="IntPillText"/>
          <p:cNvSpPr/>
          <p:nvPr/>
        </p:nvSpPr>
        <p:spPr>
          <a:xfrm>
            <a:off x="640080" y="1600200"/>
            <a:ext cx="210312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de-DE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 </a:t>
            </a:r>
            <a:r>
              <a:rPr lang="de-DE" sz="1250" b="1" dirty="0">
                <a:solidFill>
                  <a:srgbClr val="CF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3</a:t>
            </a:r>
          </a:p>
        </p:txBody>
      </p:sp>
      <p:sp>
        <p:nvSpPr>
          <p:cNvPr id="7" name="IntDesc"/>
          <p:cNvSpPr/>
          <p:nvPr/>
        </p:nvSpPr>
        <p:spPr>
          <a:xfrm>
            <a:off x="2926080" y="1432560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de-DE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 + Token (kein Passwort-Leak); fehlendes Feld → 422; Duplikat-E-Mail → 422 (Unique-Constraint)</a:t>
            </a:r>
          </a:p>
        </p:txBody>
      </p:sp>
      <p:sp>
        <p:nvSpPr>
          <p:cNvPr id="8" name="IntRow"/>
          <p:cNvSpPr/>
          <p:nvPr/>
        </p:nvSpPr>
        <p:spPr>
          <a:xfrm>
            <a:off x="457200" y="2301240"/>
            <a:ext cx="8229600" cy="731520"/>
          </a:xfrm>
          <a:prstGeom prst="roundRect">
            <a:avLst>
              <a:gd name="adj" fmla="val 10256"/>
            </a:avLst>
          </a:prstGeom>
          <a:solidFill>
            <a:srgbClr val="F1F5F9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94A3B8">
                <a:alpha val="25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9" name="IntPill"/>
          <p:cNvSpPr/>
          <p:nvPr/>
        </p:nvSpPr>
        <p:spPr>
          <a:xfrm>
            <a:off x="640080" y="2468880"/>
            <a:ext cx="2103120" cy="396240"/>
          </a:xfrm>
          <a:prstGeom prst="roundRect">
            <a:avLst>
              <a:gd name="adj" fmla="val 22000"/>
            </a:avLst>
          </a:prstGeom>
          <a:solidFill>
            <a:srgbClr val="02809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/>
          </a:p>
        </p:txBody>
      </p:sp>
      <p:sp>
        <p:nvSpPr>
          <p:cNvPr id="10" name="IntPillText"/>
          <p:cNvSpPr/>
          <p:nvPr/>
        </p:nvSpPr>
        <p:spPr>
          <a:xfrm>
            <a:off x="640080" y="2468880"/>
            <a:ext cx="210312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de-DE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 </a:t>
            </a:r>
            <a:r>
              <a:rPr lang="de-DE" sz="1250" b="1" dirty="0">
                <a:solidFill>
                  <a:srgbClr val="CF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3</a:t>
            </a:r>
          </a:p>
        </p:txBody>
      </p:sp>
      <p:sp>
        <p:nvSpPr>
          <p:cNvPr id="11" name="IntDesc"/>
          <p:cNvSpPr/>
          <p:nvPr/>
        </p:nvSpPr>
        <p:spPr>
          <a:xfrm>
            <a:off x="2926080" y="2301240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de-DE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Erfolg + Token; falsches Passwort → 422; unbekannte E-Mail → 404</a:t>
            </a:r>
          </a:p>
        </p:txBody>
      </p:sp>
      <p:sp>
        <p:nvSpPr>
          <p:cNvPr id="12" name="IntRow"/>
          <p:cNvSpPr/>
          <p:nvPr/>
        </p:nvSpPr>
        <p:spPr>
          <a:xfrm>
            <a:off x="457200" y="3169920"/>
            <a:ext cx="8229600" cy="731520"/>
          </a:xfrm>
          <a:prstGeom prst="roundRect">
            <a:avLst>
              <a:gd name="adj" fmla="val 10256"/>
            </a:avLst>
          </a:prstGeom>
          <a:solidFill>
            <a:srgbClr val="F1F5F9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94A3B8">
                <a:alpha val="25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13" name="IntPill"/>
          <p:cNvSpPr/>
          <p:nvPr/>
        </p:nvSpPr>
        <p:spPr>
          <a:xfrm>
            <a:off x="640080" y="3337560"/>
            <a:ext cx="2103120" cy="396240"/>
          </a:xfrm>
          <a:prstGeom prst="roundRect">
            <a:avLst>
              <a:gd name="adj" fmla="val 22000"/>
            </a:avLst>
          </a:prstGeom>
          <a:solidFill>
            <a:srgbClr val="02809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/>
          </a:p>
        </p:txBody>
      </p:sp>
      <p:sp>
        <p:nvSpPr>
          <p:cNvPr id="14" name="IntPillText"/>
          <p:cNvSpPr/>
          <p:nvPr/>
        </p:nvSpPr>
        <p:spPr>
          <a:xfrm>
            <a:off x="640080" y="3337560"/>
            <a:ext cx="210312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de-DE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Current-User  </a:t>
            </a:r>
            <a:r>
              <a:rPr lang="de-DE" sz="1250" b="1" dirty="0">
                <a:solidFill>
                  <a:srgbClr val="CF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2</a:t>
            </a:r>
          </a:p>
        </p:txBody>
      </p:sp>
      <p:sp>
        <p:nvSpPr>
          <p:cNvPr id="15" name="IntDesc"/>
          <p:cNvSpPr/>
          <p:nvPr/>
        </p:nvSpPr>
        <p:spPr>
          <a:xfrm>
            <a:off x="2926080" y="3169920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de-DE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401 ohne Token; 200 mit gültigem Token (geschützte /user-Route)</a:t>
            </a:r>
          </a:p>
        </p:txBody>
      </p:sp>
      <p:sp>
        <p:nvSpPr>
          <p:cNvPr id="16" name="StripCard"/>
          <p:cNvSpPr/>
          <p:nvPr/>
        </p:nvSpPr>
        <p:spPr>
          <a:xfrm>
            <a:off x="457200" y="4038600"/>
            <a:ext cx="8229600" cy="731520"/>
          </a:xfrm>
          <a:prstGeom prst="roundRect">
            <a:avLst>
              <a:gd name="adj" fmla="val 10256"/>
            </a:avLst>
          </a:prstGeom>
          <a:solidFill>
            <a:srgbClr val="E2F1F2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94A3B8">
                <a:alpha val="25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17" name="StripPill"/>
          <p:cNvSpPr/>
          <p:nvPr/>
        </p:nvSpPr>
        <p:spPr>
          <a:xfrm>
            <a:off x="640080" y="4206240"/>
            <a:ext cx="2103120" cy="396240"/>
          </a:xfrm>
          <a:prstGeom prst="roundRect">
            <a:avLst>
              <a:gd name="adj" fmla="val 22000"/>
            </a:avLst>
          </a:prstGeom>
          <a:solidFill>
            <a:srgbClr val="02809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de-DE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</a:t>
            </a:r>
          </a:p>
        </p:txBody>
      </p:sp>
      <p:sp>
        <p:nvSpPr>
          <p:cNvPr id="18" name="StripText"/>
          <p:cNvSpPr/>
          <p:nvPr/>
        </p:nvSpPr>
        <p:spPr>
          <a:xfrm>
            <a:off x="2926080" y="4038600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de-DE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Eigene Test-DB </a:t>
            </a:r>
            <a:r>
              <a:rPr lang="de-DE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database_testing</a:t>
            </a:r>
            <a:r>
              <a:rPr lang="de-DE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frisches Schema pro Datei, truncate vor jedem Test, serielle Ausführung.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E2E Test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29260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E2E-Tests – 4 Tests (Playwright)</a:t>
            </a:r>
          </a:p>
        </p:txBody>
      </p:sp>
      <p:sp>
        <p:nvSpPr>
          <p:cNvPr id="3" name="Subtitle"/>
          <p:cNvSpPr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5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Echte Browser-Flows (Chromium); Backend + Frontend werden automatisch hochgefahren.</a:t>
            </a:r>
          </a:p>
        </p:txBody>
      </p:sp>
      <p:sp>
        <p:nvSpPr>
          <p:cNvPr id="4" name="E2ELeft"/>
          <p:cNvSpPr/>
          <p:nvPr/>
        </p:nvSpPr>
        <p:spPr>
          <a:xfrm>
            <a:off x="457200" y="1463040"/>
            <a:ext cx="4023360" cy="3322320"/>
          </a:xfrm>
          <a:prstGeom prst="roundRect">
            <a:avLst>
              <a:gd name="adj" fmla="val 2424"/>
            </a:avLst>
          </a:prstGeom>
          <a:solidFill>
            <a:srgbClr val="F1F5F9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94A3B8">
                <a:alpha val="25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5" name="E2ELeftHead"/>
          <p:cNvSpPr/>
          <p:nvPr/>
        </p:nvSpPr>
        <p:spPr>
          <a:xfrm>
            <a:off x="640080" y="16459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7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auth.spec.js · 4</a:t>
            </a:r>
          </a:p>
        </p:txBody>
      </p:sp>
      <p:sp>
        <p:nvSpPr>
          <p:cNvPr id="6" name="E2ELeftBody"/>
          <p:cNvSpPr/>
          <p:nvPr/>
        </p:nvSpPr>
        <p:spPr>
          <a:xfrm>
            <a:off x="640080" y="2148840"/>
            <a:ext cx="3657600" cy="2453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lnSpc>
                <a:spcPct val="112000"/>
              </a:lnSpc>
              <a:spcBef>
                <a:spcPts val="500"/>
              </a:spcBef>
              <a:buSzPct val="90000"/>
              <a:buChar char="•"/>
            </a:pPr>
            <a:r>
              <a:rPr lang="de-DE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Registrierung → eingeloggt</a:t>
            </a:r>
          </a:p>
          <a:p>
            <a:pPr marL="285750" indent="-285750">
              <a:lnSpc>
                <a:spcPct val="112000"/>
              </a:lnSpc>
              <a:spcBef>
                <a:spcPts val="500"/>
              </a:spcBef>
              <a:buSzPct val="90000"/>
              <a:buChar char="•"/>
            </a:pPr>
            <a:r>
              <a:rPr lang="de-DE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über Formular → eingeloggt</a:t>
            </a:r>
          </a:p>
          <a:p>
            <a:pPr marL="285750" indent="-285750">
              <a:lnSpc>
                <a:spcPct val="112000"/>
              </a:lnSpc>
              <a:spcBef>
                <a:spcPts val="500"/>
              </a:spcBef>
              <a:buSzPct val="90000"/>
              <a:buChar char="•"/>
            </a:pPr>
            <a:r>
              <a:rPr lang="de-DE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Ungültiger Login → Fehlermeldung</a:t>
            </a:r>
          </a:p>
          <a:p>
            <a:pPr marL="285750" indent="-285750">
              <a:lnSpc>
                <a:spcPct val="112000"/>
              </a:lnSpc>
              <a:spcBef>
                <a:spcPts val="500"/>
              </a:spcBef>
              <a:buSzPct val="90000"/>
              <a:buChar char="•"/>
            </a:pPr>
            <a:r>
              <a:rPr lang="de-DE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Logout → ausgeloggte Navigation</a:t>
            </a:r>
          </a:p>
        </p:txBody>
      </p:sp>
      <p:sp>
        <p:nvSpPr>
          <p:cNvPr id="7" name="E2ERight"/>
          <p:cNvSpPr/>
          <p:nvPr/>
        </p:nvSpPr>
        <p:spPr>
          <a:xfrm>
            <a:off x="4663440" y="1463040"/>
            <a:ext cx="4023360" cy="3322320"/>
          </a:xfrm>
          <a:prstGeom prst="roundRect">
            <a:avLst>
              <a:gd name="adj" fmla="val 2424"/>
            </a:avLst>
          </a:prstGeom>
          <a:solidFill>
            <a:srgbClr val="F1F5F9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94A3B8">
                <a:alpha val="25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8" name="E2ERightHead"/>
          <p:cNvSpPr/>
          <p:nvPr/>
        </p:nvSpPr>
        <p:spPr>
          <a:xfrm>
            <a:off x="4846320" y="16459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7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Login-Lebenszyklus</a:t>
            </a:r>
          </a:p>
        </p:txBody>
      </p:sp>
      <p:sp>
        <p:nvSpPr>
          <p:cNvPr id="9" name="E2ERightBody"/>
          <p:cNvSpPr/>
          <p:nvPr/>
        </p:nvSpPr>
        <p:spPr>
          <a:xfrm>
            <a:off x="4846320" y="214884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lnSpc>
                <a:spcPct val="112000"/>
              </a:lnSpc>
              <a:spcBef>
                <a:spcPts val="500"/>
              </a:spcBef>
              <a:buSzPct val="90000"/>
              <a:buChar char="•"/>
            </a:pPr>
            <a:r>
              <a:rPr lang="de-DE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Vollständiger An-/Abmelde-Lebenszyklus</a:t>
            </a:r>
          </a:p>
          <a:p>
            <a:pPr marL="285750" indent="-285750">
              <a:lnSpc>
                <a:spcPct val="112000"/>
              </a:lnSpc>
              <a:spcBef>
                <a:spcPts val="500"/>
              </a:spcBef>
              <a:buSzPct val="90000"/>
              <a:buChar char="•"/>
            </a:pPr>
            <a:r>
              <a:rPr lang="de-DE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Positiver &amp; negativer Pfad (UI-Fehlermeldung)</a:t>
            </a:r>
          </a:p>
          <a:p>
            <a:pPr marL="285750" indent="-285750">
              <a:lnSpc>
                <a:spcPct val="112000"/>
              </a:lnSpc>
              <a:spcBef>
                <a:spcPts val="500"/>
              </a:spcBef>
              <a:buSzPct val="90000"/>
              <a:buChar char="•"/>
            </a:pPr>
            <a:r>
              <a:rPr lang="de-DE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+ Frontend automatisch gestartet</a:t>
            </a:r>
          </a:p>
        </p:txBody>
      </p:sp>
      <p:sp>
        <p:nvSpPr>
          <p:cNvPr id="10" name="E2ERightNote"/>
          <p:cNvSpPr/>
          <p:nvPr/>
        </p:nvSpPr>
        <p:spPr>
          <a:xfrm>
            <a:off x="4846320" y="370332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Isolation: </a:t>
            </a:r>
            <a:r>
              <a:rPr lang="de-DE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jeder Test erzeugt einen eindeutigen Benutzer (Zeitstempel + Zufall); serielle Ausführung (workers: 1).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Load Test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29260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Last-Tests – 2 Szenarien (k6)</a:t>
            </a:r>
          </a:p>
        </p:txBody>
      </p:sp>
      <p:sp>
        <p:nvSpPr>
          <p:cNvPr id="3" name="Subtitle"/>
          <p:cNvSpPr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5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Beide Szenarien gegen den Login-Endpunkt – Normallast vs. Überlast; je mit Thresholds für Latenz &amp; Fehlerrate.</a:t>
            </a:r>
          </a:p>
        </p:txBody>
      </p:sp>
      <p:sp>
        <p:nvSpPr>
          <p:cNvPr id="4" name="LoadLeft"/>
          <p:cNvSpPr/>
          <p:nvPr/>
        </p:nvSpPr>
        <p:spPr>
          <a:xfrm>
            <a:off x="457200" y="1463040"/>
            <a:ext cx="4023360" cy="3322320"/>
          </a:xfrm>
          <a:prstGeom prst="roundRect">
            <a:avLst>
              <a:gd name="adj" fmla="val 2424"/>
            </a:avLst>
          </a:prstGeom>
          <a:solidFill>
            <a:srgbClr val="F1F5F9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94A3B8">
                <a:alpha val="25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5" name="LoadLeftHead"/>
          <p:cNvSpPr/>
          <p:nvPr/>
        </p:nvSpPr>
        <p:spPr>
          <a:xfrm>
            <a:off x="640080" y="16459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7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Last- / Throughput-Test</a:t>
            </a:r>
          </a:p>
        </p:txBody>
      </p:sp>
      <p:sp>
        <p:nvSpPr>
          <p:cNvPr id="6" name="LoadLeftEp"/>
          <p:cNvSpPr/>
          <p:nvPr/>
        </p:nvSpPr>
        <p:spPr>
          <a:xfrm>
            <a:off x="640080" y="2011680"/>
            <a:ext cx="36576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/api/users/login</a:t>
            </a:r>
          </a:p>
        </p:txBody>
      </p:sp>
      <p:sp>
        <p:nvSpPr>
          <p:cNvPr id="7" name="LoadLeftBody"/>
          <p:cNvSpPr/>
          <p:nvPr/>
        </p:nvSpPr>
        <p:spPr>
          <a:xfrm>
            <a:off x="640080" y="2423160"/>
            <a:ext cx="3657600" cy="2179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lnSpc>
                <a:spcPct val="112000"/>
              </a:lnSpc>
              <a:spcBef>
                <a:spcPts val="500"/>
              </a:spcBef>
              <a:buSzPct val="90000"/>
              <a:buChar char="•"/>
            </a:pPr>
            <a:r>
              <a:rPr lang="de-DE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Verhalten des Logins unter realistischer Normallast</a:t>
            </a:r>
          </a:p>
          <a:p>
            <a:pPr marL="285750" indent="-285750">
              <a:lnSpc>
                <a:spcPct val="112000"/>
              </a:lnSpc>
              <a:spcBef>
                <a:spcPts val="500"/>
              </a:spcBef>
              <a:buSzPct val="90000"/>
              <a:buChar char="•"/>
            </a:pPr>
            <a:r>
              <a:rPr lang="de-DE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Profil: Ramp 0→15 VUs (15 s), Plateau 15 VUs (30 s), Ramp-down (10 s)</a:t>
            </a:r>
          </a:p>
          <a:p>
            <a:pPr marL="285750" indent="-285750">
              <a:lnSpc>
                <a:spcPct val="112000"/>
              </a:lnSpc>
              <a:spcBef>
                <a:spcPts val="500"/>
              </a:spcBef>
              <a:buSzPct val="90000"/>
              <a:buChar char="•"/>
            </a:pPr>
            <a:r>
              <a:rPr lang="de-DE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Threshold: p95 &lt; 1 s, Fehlerrate ≈ 0 %</a:t>
            </a:r>
          </a:p>
        </p:txBody>
      </p:sp>
      <p:sp>
        <p:nvSpPr>
          <p:cNvPr id="8" name="LoadRight"/>
          <p:cNvSpPr/>
          <p:nvPr/>
        </p:nvSpPr>
        <p:spPr>
          <a:xfrm>
            <a:off x="4663440" y="1463040"/>
            <a:ext cx="4023360" cy="3322320"/>
          </a:xfrm>
          <a:prstGeom prst="roundRect">
            <a:avLst>
              <a:gd name="adj" fmla="val 2424"/>
            </a:avLst>
          </a:prstGeom>
          <a:solidFill>
            <a:srgbClr val="F1F5F9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94A3B8">
                <a:alpha val="25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9" name="LoadRightHead"/>
          <p:cNvSpPr/>
          <p:nvPr/>
        </p:nvSpPr>
        <p:spPr>
          <a:xfrm>
            <a:off x="4846320" y="16459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Stress- / Spike-Test</a:t>
            </a:r>
          </a:p>
        </p:txBody>
      </p:sp>
      <p:sp>
        <p:nvSpPr>
          <p:cNvPr id="10" name="LoadRightEp"/>
          <p:cNvSpPr/>
          <p:nvPr/>
        </p:nvSpPr>
        <p:spPr>
          <a:xfrm>
            <a:off x="4846320" y="2011680"/>
            <a:ext cx="36576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/api/users/login</a:t>
            </a:r>
          </a:p>
        </p:txBody>
      </p:sp>
      <p:sp>
        <p:nvSpPr>
          <p:cNvPr id="11" name="LoadRightBody"/>
          <p:cNvSpPr/>
          <p:nvPr/>
        </p:nvSpPr>
        <p:spPr>
          <a:xfrm>
            <a:off x="4846320" y="2423160"/>
            <a:ext cx="3657600" cy="2179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lnSpc>
                <a:spcPct val="112000"/>
              </a:lnSpc>
              <a:spcBef>
                <a:spcPts val="500"/>
              </a:spcBef>
              <a:buSzPct val="90000"/>
              <a:buChar char="•"/>
            </a:pPr>
            <a:r>
              <a:rPr lang="de-DE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CPU-intensiven Login-Pfad (bcrypt) gezielt überlasten</a:t>
            </a:r>
          </a:p>
          <a:p>
            <a:pPr marL="285750" indent="-285750">
              <a:lnSpc>
                <a:spcPct val="112000"/>
              </a:lnSpc>
              <a:spcBef>
                <a:spcPts val="500"/>
              </a:spcBef>
              <a:buSzPct val="90000"/>
              <a:buChar char="•"/>
            </a:pPr>
            <a:r>
              <a:rPr lang="de-DE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Profil: Warmup → 10 VUs, Spike auf 100 VUs, Halten (20 s)</a:t>
            </a:r>
          </a:p>
          <a:p>
            <a:pPr marL="285750" indent="-285750">
              <a:lnSpc>
                <a:spcPct val="112000"/>
              </a:lnSpc>
              <a:spcBef>
                <a:spcPts val="500"/>
              </a:spcBef>
              <a:buSzPct val="90000"/>
              <a:buChar char="•"/>
            </a:pPr>
            <a:r>
              <a:rPr lang="de-DE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Ziel: Kapazitätsgrenze finden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Last-Tests: Interpretation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023360" cy="3017520"/>
          </a:xfrm>
          <a:prstGeom prst="roundRect">
            <a:avLst>
              <a:gd name="adj" fmla="val 2424"/>
            </a:avLst>
          </a:prstGeom>
          <a:solidFill>
            <a:srgbClr val="F1F5F9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94A3B8">
                <a:alpha val="25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Normallast – unkritisch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828800"/>
            <a:ext cx="3657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p95 188 ms bei 15 VUs, 0 % Fehler</a:t>
            </a:r>
            <a:endParaRPr lang="en-US" sz="135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Klar unter dem Schwellwert (1 s), stabiles Plateau</a:t>
            </a:r>
            <a:endParaRPr lang="en-US" sz="135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unter erwarteter Last unauffällig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663440" y="1188720"/>
            <a:ext cx="4023360" cy="3017520"/>
          </a:xfrm>
          <a:prstGeom prst="roundRect">
            <a:avLst>
              <a:gd name="adj" fmla="val 2424"/>
            </a:avLst>
          </a:prstGeom>
          <a:solidFill>
            <a:srgbClr val="F1F5F9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94A3B8">
                <a:alpha val="25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7" name="Text 5"/>
          <p:cNvSpPr/>
          <p:nvPr/>
        </p:nvSpPr>
        <p:spPr>
          <a:xfrm>
            <a:off x="484632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Überlast – Engpass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846320" y="1828800"/>
            <a:ext cx="3657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188 ms → 1171 ms unter Spike (≈ 6× langsamer)</a:t>
            </a:r>
            <a:endParaRPr lang="en-US" sz="135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Ursache: bcrypt ist absichtlich CPU-intensiv → CPU sättigt, Requests stauen</a:t>
            </a:r>
            <a:endParaRPr lang="en-US" sz="135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CPU-gebundener Engpass – Durchsatz deckelt, 0 % Fehler</a:t>
            </a:r>
            <a:endParaRPr lang="en-US" sz="135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Abhilfe: horizontale Skalierung, Rate-Limiting, bcrypt-Cost-Abwägung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945</Words>
  <Application>Microsoft Office PowerPoint</Application>
  <PresentationFormat>Bildschirmpräsentation (16:9)</PresentationFormat>
  <Paragraphs>96</Paragraphs>
  <Slides>9</Slides>
  <Notes>4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9</vt:i4>
      </vt:variant>
    </vt:vector>
  </HeadingPairs>
  <TitlesOfParts>
    <vt:vector size="13" baseType="lpstr">
      <vt:lpstr>Arial</vt:lpstr>
      <vt:lpstr>Calibri</vt:lpstr>
      <vt:lpstr>Cambria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Web Application Testing – conduit</dc:title>
  <dc:subject>PptxGenJS Presentation</dc:subject>
  <dc:creator>Lorenz Seybold, Philipp Zauner</dc:creator>
  <cp:lastModifiedBy>Philipp Zauner</cp:lastModifiedBy>
  <cp:revision>1</cp:revision>
  <dcterms:created xsi:type="dcterms:W3CDTF">2026-06-23T20:11:16Z</dcterms:created>
  <dcterms:modified xsi:type="dcterms:W3CDTF">2026-06-25T12:29:05Z</dcterms:modified>
</cp:coreProperties>
</file>